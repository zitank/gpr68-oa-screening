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Bold" charset="1" panose="02020803070505020304"/>
      <p:regular r:id="rId18"/>
    </p:embeddedFont>
    <p:embeddedFont>
      <p:font typeface="Times New Roman Italics" charset="1" panose="02020503050405090304"/>
      <p:regular r:id="rId19"/>
    </p:embeddedFont>
    <p:embeddedFont>
      <p:font typeface="Times New Roman Bold Italics" charset="1" panose="02020703060505090304"/>
      <p:regular r:id="rId20"/>
    </p:embeddedFont>
    <p:embeddedFont>
      <p:font typeface="Times New Roman" charset="1" panose="020206030504050203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1.jpeg" Type="http://schemas.openxmlformats.org/officeDocument/2006/relationships/imag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22" Target="../media/image22.png" Type="http://schemas.openxmlformats.org/officeDocument/2006/relationships/image"/><Relationship Id="rId23" Target="../media/image23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png" Type="http://schemas.openxmlformats.org/officeDocument/2006/relationships/image"/><Relationship Id="rId28" Target="../media/image28.svg" Type="http://schemas.openxmlformats.org/officeDocument/2006/relationships/image"/><Relationship Id="rId29" Target="../media/image29.png" Type="http://schemas.openxmlformats.org/officeDocument/2006/relationships/image"/><Relationship Id="rId3" Target="../media/image3.png" Type="http://schemas.openxmlformats.org/officeDocument/2006/relationships/image"/><Relationship Id="rId30" Target="../media/image30.svg" Type="http://schemas.openxmlformats.org/officeDocument/2006/relationships/image"/><Relationship Id="rId31" Target="../media/image31.png" Type="http://schemas.openxmlformats.org/officeDocument/2006/relationships/image"/><Relationship Id="rId32" Target="../media/image32.svg" Type="http://schemas.openxmlformats.org/officeDocument/2006/relationships/image"/><Relationship Id="rId33" Target="../media/image33.png" Type="http://schemas.openxmlformats.org/officeDocument/2006/relationships/image"/><Relationship Id="rId34" Target="../media/image34.svg" Type="http://schemas.openxmlformats.org/officeDocument/2006/relationships/image"/><Relationship Id="rId35" Target="../media/image35.png" Type="http://schemas.openxmlformats.org/officeDocument/2006/relationships/image"/><Relationship Id="rId36" Target="../media/image36.svg" Type="http://schemas.openxmlformats.org/officeDocument/2006/relationships/image"/><Relationship Id="rId37" Target="../media/image37.png" Type="http://schemas.openxmlformats.org/officeDocument/2006/relationships/image"/><Relationship Id="rId38" Target="../media/image38.svg" Type="http://schemas.openxmlformats.org/officeDocument/2006/relationships/image"/><Relationship Id="rId39" Target="../media/image39.png" Type="http://schemas.openxmlformats.org/officeDocument/2006/relationships/image"/><Relationship Id="rId4" Target="../media/image4.png" Type="http://schemas.openxmlformats.org/officeDocument/2006/relationships/image"/><Relationship Id="rId40" Target="../media/image40.svg" Type="http://schemas.openxmlformats.org/officeDocument/2006/relationships/image"/><Relationship Id="rId41" Target="../media/image41.png" Type="http://schemas.openxmlformats.org/officeDocument/2006/relationships/image"/><Relationship Id="rId42" Target="../media/image42.svg" Type="http://schemas.openxmlformats.org/officeDocument/2006/relationships/image"/><Relationship Id="rId43" Target="../media/image43.png" Type="http://schemas.openxmlformats.org/officeDocument/2006/relationships/image"/><Relationship Id="rId44" Target="../media/image44.svg" Type="http://schemas.openxmlformats.org/officeDocument/2006/relationships/image"/><Relationship Id="rId45" Target="../media/image45.png" Type="http://schemas.openxmlformats.org/officeDocument/2006/relationships/image"/><Relationship Id="rId46" Target="../media/image46.sv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16" Target="../media/image58.png" Type="http://schemas.openxmlformats.org/officeDocument/2006/relationships/image"/><Relationship Id="rId17" Target="../media/image59.svg" Type="http://schemas.openxmlformats.org/officeDocument/2006/relationships/image"/><Relationship Id="rId18" Target="../media/image60.png" Type="http://schemas.openxmlformats.org/officeDocument/2006/relationships/image"/><Relationship Id="rId19" Target="../media/image61.svg" Type="http://schemas.openxmlformats.org/officeDocument/2006/relationships/image"/><Relationship Id="rId2" Target="../media/image47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png" Type="http://schemas.openxmlformats.org/officeDocument/2006/relationships/image"/><Relationship Id="rId14" Target="../media/image73.svg" Type="http://schemas.openxmlformats.org/officeDocument/2006/relationships/image"/><Relationship Id="rId15" Target="../media/image74.pn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47.jpeg" Type="http://schemas.openxmlformats.org/officeDocument/2006/relationships/image"/><Relationship Id="rId20" Target="../media/image79.png" Type="http://schemas.openxmlformats.org/officeDocument/2006/relationships/image"/><Relationship Id="rId21" Target="../media/image80.png" Type="http://schemas.openxmlformats.org/officeDocument/2006/relationships/image"/><Relationship Id="rId22" Target="../media/image81.jpeg" Type="http://schemas.openxmlformats.org/officeDocument/2006/relationships/image"/><Relationship Id="rId23" Target="../media/image82.png" Type="http://schemas.openxmlformats.org/officeDocument/2006/relationships/image"/><Relationship Id="rId24" Target="../media/image83.svg" Type="http://schemas.openxmlformats.org/officeDocument/2006/relationships/image"/><Relationship Id="rId25" Target="../media/image84.png" Type="http://schemas.openxmlformats.org/officeDocument/2006/relationships/image"/><Relationship Id="rId26" Target="../media/image85.svg" Type="http://schemas.openxmlformats.org/officeDocument/2006/relationships/image"/><Relationship Id="rId27" Target="../media/image86.png" Type="http://schemas.openxmlformats.org/officeDocument/2006/relationships/image"/><Relationship Id="rId28" Target="../media/image87.svg" Type="http://schemas.openxmlformats.org/officeDocument/2006/relationships/image"/><Relationship Id="rId29" Target="../media/image88.jpeg" Type="http://schemas.openxmlformats.org/officeDocument/2006/relationships/image"/><Relationship Id="rId3" Target="../media/image62.png" Type="http://schemas.openxmlformats.org/officeDocument/2006/relationships/image"/><Relationship Id="rId30" Target="../media/image41.png" Type="http://schemas.openxmlformats.org/officeDocument/2006/relationships/image"/><Relationship Id="rId31" Target="../media/image42.svg" Type="http://schemas.openxmlformats.org/officeDocument/2006/relationships/image"/><Relationship Id="rId32" Target="../media/image89.png" Type="http://schemas.openxmlformats.org/officeDocument/2006/relationships/image"/><Relationship Id="rId33" Target="../media/image90.png" Type="http://schemas.openxmlformats.org/officeDocument/2006/relationships/image"/><Relationship Id="rId34" Target="../media/image91.png" Type="http://schemas.openxmlformats.org/officeDocument/2006/relationships/image"/><Relationship Id="rId35" Target="../media/image92.sv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16" Target="../media/image54.png" Type="http://schemas.openxmlformats.org/officeDocument/2006/relationships/image"/><Relationship Id="rId17" Target="../media/image55.svg" Type="http://schemas.openxmlformats.org/officeDocument/2006/relationships/image"/><Relationship Id="rId18" Target="../media/image98.jpeg" Type="http://schemas.openxmlformats.org/officeDocument/2006/relationships/image"/><Relationship Id="rId19" Target="../media/image99.png" Type="http://schemas.openxmlformats.org/officeDocument/2006/relationships/image"/><Relationship Id="rId2" Target="../media/image47.jpeg" Type="http://schemas.openxmlformats.org/officeDocument/2006/relationships/image"/><Relationship Id="rId20" Target="../media/image100.png" Type="http://schemas.openxmlformats.org/officeDocument/2006/relationships/image"/><Relationship Id="rId21" Target="../media/image101.png" Type="http://schemas.openxmlformats.org/officeDocument/2006/relationships/image"/><Relationship Id="rId22" Target="../media/image102.png" Type="http://schemas.openxmlformats.org/officeDocument/2006/relationships/image"/><Relationship Id="rId23" Target="../media/image103.png" Type="http://schemas.openxmlformats.org/officeDocument/2006/relationships/image"/><Relationship Id="rId24" Target="../media/image104.png" Type="http://schemas.openxmlformats.org/officeDocument/2006/relationships/image"/><Relationship Id="rId25" Target="../media/image62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26.pn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113.png" Type="http://schemas.openxmlformats.org/officeDocument/2006/relationships/image"/><Relationship Id="rId12" Target="../media/image114.jpeg" Type="http://schemas.openxmlformats.org/officeDocument/2006/relationships/image"/><Relationship Id="rId13" Target="../media/image115.png" Type="http://schemas.openxmlformats.org/officeDocument/2006/relationships/image"/><Relationship Id="rId14" Target="../media/image116.svg" Type="http://schemas.openxmlformats.org/officeDocument/2006/relationships/image"/><Relationship Id="rId15" Target="../media/image117.png" Type="http://schemas.openxmlformats.org/officeDocument/2006/relationships/image"/><Relationship Id="rId2" Target="../media/image95.png" Type="http://schemas.openxmlformats.org/officeDocument/2006/relationships/image"/><Relationship Id="rId3" Target="../media/image47.jpe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Relationship Id="rId9" Target="../media/image1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22.png" Type="http://schemas.openxmlformats.org/officeDocument/2006/relationships/image"/><Relationship Id="rId12" Target="../media/image123.svg" Type="http://schemas.openxmlformats.org/officeDocument/2006/relationships/image"/><Relationship Id="rId13" Target="../media/image124.png" Type="http://schemas.openxmlformats.org/officeDocument/2006/relationships/image"/><Relationship Id="rId14" Target="../media/image125.svg" Type="http://schemas.openxmlformats.org/officeDocument/2006/relationships/image"/><Relationship Id="rId15" Target="../media/image126.png" Type="http://schemas.openxmlformats.org/officeDocument/2006/relationships/image"/><Relationship Id="rId16" Target="../media/image127.png" Type="http://schemas.openxmlformats.org/officeDocument/2006/relationships/image"/><Relationship Id="rId2" Target="../media/image47.jpeg" Type="http://schemas.openxmlformats.org/officeDocument/2006/relationships/image"/><Relationship Id="rId3" Target="../media/image99.png" Type="http://schemas.openxmlformats.org/officeDocument/2006/relationships/image"/><Relationship Id="rId4" Target="../media/image100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pn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17" Target="../media/image129.png" Type="http://schemas.openxmlformats.org/officeDocument/2006/relationships/image"/><Relationship Id="rId18" Target="../media/image130.svg" Type="http://schemas.openxmlformats.org/officeDocument/2006/relationships/image"/><Relationship Id="rId2" Target="../media/image47.jpeg" Type="http://schemas.openxmlformats.org/officeDocument/2006/relationships/image"/><Relationship Id="rId3" Target="../media/image26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99.png" Type="http://schemas.openxmlformats.org/officeDocument/2006/relationships/image"/><Relationship Id="rId7" Target="../media/image100.png" Type="http://schemas.openxmlformats.org/officeDocument/2006/relationships/image"/><Relationship Id="rId8" Target="../media/image118.png" Type="http://schemas.openxmlformats.org/officeDocument/2006/relationships/image"/><Relationship Id="rId9" Target="../media/image1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4.png" Type="http://schemas.openxmlformats.org/officeDocument/2006/relationships/image"/><Relationship Id="rId11" Target="../media/image135.svg" Type="http://schemas.openxmlformats.org/officeDocument/2006/relationships/image"/><Relationship Id="rId12" Target="../media/image136.png" Type="http://schemas.openxmlformats.org/officeDocument/2006/relationships/image"/><Relationship Id="rId13" Target="../media/image137.png" Type="http://schemas.openxmlformats.org/officeDocument/2006/relationships/image"/><Relationship Id="rId14" Target="../media/image138.svg" Type="http://schemas.openxmlformats.org/officeDocument/2006/relationships/image"/><Relationship Id="rId15" Target="../media/image139.png" Type="http://schemas.openxmlformats.org/officeDocument/2006/relationships/image"/><Relationship Id="rId16" Target="../media/image140.svg" Type="http://schemas.openxmlformats.org/officeDocument/2006/relationships/image"/><Relationship Id="rId17" Target="../media/image141.jpeg" Type="http://schemas.openxmlformats.org/officeDocument/2006/relationships/image"/><Relationship Id="rId18" Target="../media/image142.png" Type="http://schemas.openxmlformats.org/officeDocument/2006/relationships/image"/><Relationship Id="rId19" Target="../media/image143.jpeg" Type="http://schemas.openxmlformats.org/officeDocument/2006/relationships/image"/><Relationship Id="rId2" Target="../media/image47.jpeg" Type="http://schemas.openxmlformats.org/officeDocument/2006/relationships/image"/><Relationship Id="rId3" Target="../media/image26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95.png" Type="http://schemas.openxmlformats.org/officeDocument/2006/relationships/image"/><Relationship Id="rId7" Target="../media/image131.png" Type="http://schemas.openxmlformats.org/officeDocument/2006/relationships/image"/><Relationship Id="rId8" Target="../media/image132.png" Type="http://schemas.openxmlformats.org/officeDocument/2006/relationships/image"/><Relationship Id="rId9" Target="../media/image1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66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026734" y="-68580"/>
            <a:ext cx="18167684" cy="1035558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62025"/>
            <a:ext cx="12334950" cy="456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8"/>
              </a:lnSpc>
            </a:pPr>
            <a:r>
              <a:rPr lang="en-US" b="true" sz="7200" spc="-2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</a:t>
            </a:r>
            <a:r>
              <a:rPr lang="en-US" b="true" sz="7200" spc="-2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-Assisted Discovery of Novel Sma</a:t>
            </a:r>
            <a:r>
              <a:rPr lang="en-US" b="true" sz="7200" spc="-2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</a:t>
            </a:r>
            <a:r>
              <a:rPr lang="en-US" b="true" sz="7200" spc="-2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-Molecule Modulators of  GPR68 for Cartilage Protection in Osteoarthritis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21938"/>
            <a:ext cx="1233495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人工智能辅助发现新型</a:t>
            </a: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GPR68 小分子调节剂用于骨关节炎软骨保护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270426"/>
            <a:ext cx="123349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本科生组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29675"/>
            <a:ext cx="125803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赛道三：离子通道、GPCR等药靶的小分子药物虚拟筛选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2081" y="6747003"/>
            <a:ext cx="2361762" cy="2308212"/>
            <a:chOff x="0" y="0"/>
            <a:chExt cx="622028" cy="6079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2028" cy="607924"/>
            </a:xfrm>
            <a:custGeom>
              <a:avLst/>
              <a:gdLst/>
              <a:ahLst/>
              <a:cxnLst/>
              <a:rect r="r" b="b" t="t" l="l"/>
              <a:pathLst>
                <a:path h="607924" w="622028">
                  <a:moveTo>
                    <a:pt x="0" y="0"/>
                  </a:moveTo>
                  <a:lnTo>
                    <a:pt x="622028" y="0"/>
                  </a:lnTo>
                  <a:lnTo>
                    <a:pt x="622028" y="607924"/>
                  </a:lnTo>
                  <a:lnTo>
                    <a:pt x="0" y="60792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622028" cy="569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37294" y="6739063"/>
            <a:ext cx="2066534" cy="2308212"/>
            <a:chOff x="0" y="0"/>
            <a:chExt cx="544272" cy="6079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4272" cy="607924"/>
            </a:xfrm>
            <a:custGeom>
              <a:avLst/>
              <a:gdLst/>
              <a:ahLst/>
              <a:cxnLst/>
              <a:rect r="r" b="b" t="t" l="l"/>
              <a:pathLst>
                <a:path h="607924" w="544272">
                  <a:moveTo>
                    <a:pt x="0" y="0"/>
                  </a:moveTo>
                  <a:lnTo>
                    <a:pt x="544272" y="0"/>
                  </a:lnTo>
                  <a:lnTo>
                    <a:pt x="544272" y="607924"/>
                  </a:lnTo>
                  <a:lnTo>
                    <a:pt x="0" y="60792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544272" cy="569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38711" y="4003597"/>
            <a:ext cx="8120589" cy="2787055"/>
            <a:chOff x="0" y="0"/>
            <a:chExt cx="3056566" cy="10491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56566" cy="1049129"/>
            </a:xfrm>
            <a:custGeom>
              <a:avLst/>
              <a:gdLst/>
              <a:ahLst/>
              <a:cxnLst/>
              <a:rect r="r" b="b" t="t" l="l"/>
              <a:pathLst>
                <a:path h="1049129" w="3056566">
                  <a:moveTo>
                    <a:pt x="3056566" y="19067"/>
                  </a:moveTo>
                  <a:lnTo>
                    <a:pt x="3056566" y="1030061"/>
                  </a:lnTo>
                  <a:cubicBezTo>
                    <a:pt x="3056566" y="1035118"/>
                    <a:pt x="3054557" y="1039968"/>
                    <a:pt x="3050981" y="1043544"/>
                  </a:cubicBezTo>
                  <a:cubicBezTo>
                    <a:pt x="3047405" y="1047120"/>
                    <a:pt x="3042556" y="1049129"/>
                    <a:pt x="3037499" y="1049129"/>
                  </a:cubicBezTo>
                  <a:lnTo>
                    <a:pt x="19067" y="1049129"/>
                  </a:lnTo>
                  <a:cubicBezTo>
                    <a:pt x="14010" y="1049129"/>
                    <a:pt x="9161" y="1047120"/>
                    <a:pt x="5585" y="1043544"/>
                  </a:cubicBezTo>
                  <a:cubicBezTo>
                    <a:pt x="2009" y="1039968"/>
                    <a:pt x="0" y="1035118"/>
                    <a:pt x="0" y="1030061"/>
                  </a:cubicBezTo>
                  <a:lnTo>
                    <a:pt x="0" y="19067"/>
                  </a:lnTo>
                  <a:cubicBezTo>
                    <a:pt x="0" y="14010"/>
                    <a:pt x="2009" y="9161"/>
                    <a:pt x="5585" y="5585"/>
                  </a:cubicBezTo>
                  <a:cubicBezTo>
                    <a:pt x="9161" y="2009"/>
                    <a:pt x="14010" y="0"/>
                    <a:pt x="19067" y="0"/>
                  </a:cubicBezTo>
                  <a:lnTo>
                    <a:pt x="3037499" y="0"/>
                  </a:lnTo>
                  <a:cubicBezTo>
                    <a:pt x="3042556" y="0"/>
                    <a:pt x="3047405" y="2009"/>
                    <a:pt x="3050981" y="5585"/>
                  </a:cubicBezTo>
                  <a:cubicBezTo>
                    <a:pt x="3054557" y="9161"/>
                    <a:pt x="3056566" y="14010"/>
                    <a:pt x="3056566" y="19067"/>
                  </a:cubicBezTo>
                  <a:close/>
                </a:path>
              </a:pathLst>
            </a:custGeom>
            <a:solidFill>
              <a:srgbClr val="FFDE59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3056566" cy="97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60324" y="6981152"/>
            <a:ext cx="8098976" cy="2424268"/>
            <a:chOff x="0" y="0"/>
            <a:chExt cx="3048431" cy="9125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431" cy="912565"/>
            </a:xfrm>
            <a:custGeom>
              <a:avLst/>
              <a:gdLst/>
              <a:ahLst/>
              <a:cxnLst/>
              <a:rect r="r" b="b" t="t" l="l"/>
              <a:pathLst>
                <a:path h="912565" w="3048431">
                  <a:moveTo>
                    <a:pt x="3048431" y="19118"/>
                  </a:moveTo>
                  <a:lnTo>
                    <a:pt x="3048431" y="893447"/>
                  </a:lnTo>
                  <a:cubicBezTo>
                    <a:pt x="3048431" y="904006"/>
                    <a:pt x="3039871" y="912565"/>
                    <a:pt x="3029313" y="912565"/>
                  </a:cubicBezTo>
                  <a:lnTo>
                    <a:pt x="19118" y="912565"/>
                  </a:lnTo>
                  <a:cubicBezTo>
                    <a:pt x="8560" y="912565"/>
                    <a:pt x="0" y="904006"/>
                    <a:pt x="0" y="893447"/>
                  </a:cubicBezTo>
                  <a:lnTo>
                    <a:pt x="0" y="19118"/>
                  </a:lnTo>
                  <a:cubicBezTo>
                    <a:pt x="0" y="8560"/>
                    <a:pt x="8560" y="0"/>
                    <a:pt x="19118" y="0"/>
                  </a:cubicBezTo>
                  <a:lnTo>
                    <a:pt x="3029313" y="0"/>
                  </a:lnTo>
                  <a:cubicBezTo>
                    <a:pt x="3039871" y="0"/>
                    <a:pt x="3048431" y="8560"/>
                    <a:pt x="3048431" y="19118"/>
                  </a:cubicBezTo>
                  <a:close/>
                </a:path>
              </a:pathLst>
            </a:custGeom>
            <a:solidFill>
              <a:srgbClr val="FFDE59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3048431" cy="836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869786"/>
            <a:ext cx="7776636" cy="6535635"/>
            <a:chOff x="0" y="0"/>
            <a:chExt cx="3242779" cy="27255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42779" cy="2725526"/>
            </a:xfrm>
            <a:custGeom>
              <a:avLst/>
              <a:gdLst/>
              <a:ahLst/>
              <a:cxnLst/>
              <a:rect r="r" b="b" t="t" l="l"/>
              <a:pathLst>
                <a:path h="2725526" w="3242779">
                  <a:moveTo>
                    <a:pt x="3242779" y="19911"/>
                  </a:moveTo>
                  <a:lnTo>
                    <a:pt x="3242779" y="2705615"/>
                  </a:lnTo>
                  <a:cubicBezTo>
                    <a:pt x="3242779" y="2716611"/>
                    <a:pt x="3233865" y="2725526"/>
                    <a:pt x="3222868" y="2725526"/>
                  </a:cubicBezTo>
                  <a:lnTo>
                    <a:pt x="19911" y="2725526"/>
                  </a:lnTo>
                  <a:cubicBezTo>
                    <a:pt x="14630" y="2725526"/>
                    <a:pt x="9566" y="2723428"/>
                    <a:pt x="5832" y="2719694"/>
                  </a:cubicBezTo>
                  <a:cubicBezTo>
                    <a:pt x="2098" y="2715960"/>
                    <a:pt x="0" y="2710896"/>
                    <a:pt x="0" y="2705615"/>
                  </a:cubicBezTo>
                  <a:lnTo>
                    <a:pt x="0" y="19911"/>
                  </a:lnTo>
                  <a:cubicBezTo>
                    <a:pt x="0" y="8914"/>
                    <a:pt x="8914" y="0"/>
                    <a:pt x="19911" y="0"/>
                  </a:cubicBezTo>
                  <a:lnTo>
                    <a:pt x="3222868" y="0"/>
                  </a:lnTo>
                  <a:cubicBezTo>
                    <a:pt x="3233865" y="0"/>
                    <a:pt x="3242779" y="8914"/>
                    <a:pt x="3242779" y="19911"/>
                  </a:cubicBezTo>
                  <a:close/>
                </a:path>
              </a:pathLst>
            </a:custGeom>
            <a:solidFill>
              <a:srgbClr val="35A900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3242779" cy="2649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251837" y="8171245"/>
            <a:ext cx="813973" cy="830584"/>
          </a:xfrm>
          <a:custGeom>
            <a:avLst/>
            <a:gdLst/>
            <a:ahLst/>
            <a:cxnLst/>
            <a:rect r="r" b="b" t="t" l="l"/>
            <a:pathLst>
              <a:path h="830584" w="813973">
                <a:moveTo>
                  <a:pt x="0" y="0"/>
                </a:moveTo>
                <a:lnTo>
                  <a:pt x="813973" y="0"/>
                </a:lnTo>
                <a:lnTo>
                  <a:pt x="813973" y="830584"/>
                </a:lnTo>
                <a:lnTo>
                  <a:pt x="0" y="830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95211" y="8111978"/>
            <a:ext cx="976017" cy="946736"/>
          </a:xfrm>
          <a:custGeom>
            <a:avLst/>
            <a:gdLst/>
            <a:ahLst/>
            <a:cxnLst/>
            <a:rect r="r" b="b" t="t" l="l"/>
            <a:pathLst>
              <a:path h="946736" w="976017">
                <a:moveTo>
                  <a:pt x="0" y="0"/>
                </a:moveTo>
                <a:lnTo>
                  <a:pt x="976017" y="0"/>
                </a:lnTo>
                <a:lnTo>
                  <a:pt x="976017" y="946736"/>
                </a:lnTo>
                <a:lnTo>
                  <a:pt x="0" y="94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65573" y="8569769"/>
            <a:ext cx="757947" cy="477507"/>
          </a:xfrm>
          <a:custGeom>
            <a:avLst/>
            <a:gdLst/>
            <a:ahLst/>
            <a:cxnLst/>
            <a:rect r="r" b="b" t="t" l="l"/>
            <a:pathLst>
              <a:path h="477507" w="757947">
                <a:moveTo>
                  <a:pt x="0" y="0"/>
                </a:moveTo>
                <a:lnTo>
                  <a:pt x="757947" y="0"/>
                </a:lnTo>
                <a:lnTo>
                  <a:pt x="757947" y="477507"/>
                </a:lnTo>
                <a:lnTo>
                  <a:pt x="0" y="477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667274" y="8066423"/>
            <a:ext cx="554545" cy="479681"/>
          </a:xfrm>
          <a:custGeom>
            <a:avLst/>
            <a:gdLst/>
            <a:ahLst/>
            <a:cxnLst/>
            <a:rect r="r" b="b" t="t" l="l"/>
            <a:pathLst>
              <a:path h="479681" w="554545">
                <a:moveTo>
                  <a:pt x="0" y="0"/>
                </a:moveTo>
                <a:lnTo>
                  <a:pt x="554544" y="0"/>
                </a:lnTo>
                <a:lnTo>
                  <a:pt x="554544" y="479681"/>
                </a:lnTo>
                <a:lnTo>
                  <a:pt x="0" y="4796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23028" y="4383038"/>
            <a:ext cx="1294532" cy="1152134"/>
          </a:xfrm>
          <a:custGeom>
            <a:avLst/>
            <a:gdLst/>
            <a:ahLst/>
            <a:cxnLst/>
            <a:rect r="r" b="b" t="t" l="l"/>
            <a:pathLst>
              <a:path h="1152134" w="1294532">
                <a:moveTo>
                  <a:pt x="0" y="0"/>
                </a:moveTo>
                <a:lnTo>
                  <a:pt x="1294532" y="0"/>
                </a:lnTo>
                <a:lnTo>
                  <a:pt x="1294532" y="1152134"/>
                </a:lnTo>
                <a:lnTo>
                  <a:pt x="0" y="11521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781526" y="7041153"/>
            <a:ext cx="1245550" cy="1152134"/>
          </a:xfrm>
          <a:custGeom>
            <a:avLst/>
            <a:gdLst/>
            <a:ahLst/>
            <a:cxnLst/>
            <a:rect r="r" b="b" t="t" l="l"/>
            <a:pathLst>
              <a:path h="1152134" w="1245550">
                <a:moveTo>
                  <a:pt x="0" y="0"/>
                </a:moveTo>
                <a:lnTo>
                  <a:pt x="1245550" y="0"/>
                </a:lnTo>
                <a:lnTo>
                  <a:pt x="1245550" y="1152134"/>
                </a:lnTo>
                <a:lnTo>
                  <a:pt x="0" y="11521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06023" y="6914289"/>
            <a:ext cx="1013878" cy="1152134"/>
          </a:xfrm>
          <a:custGeom>
            <a:avLst/>
            <a:gdLst/>
            <a:ahLst/>
            <a:cxnLst/>
            <a:rect r="r" b="b" t="t" l="l"/>
            <a:pathLst>
              <a:path h="1152134" w="1013878">
                <a:moveTo>
                  <a:pt x="0" y="0"/>
                </a:moveTo>
                <a:lnTo>
                  <a:pt x="1013877" y="0"/>
                </a:lnTo>
                <a:lnTo>
                  <a:pt x="1013877" y="1152134"/>
                </a:lnTo>
                <a:lnTo>
                  <a:pt x="0" y="11521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144000" y="1028700"/>
            <a:ext cx="8098976" cy="2787055"/>
            <a:chOff x="0" y="0"/>
            <a:chExt cx="3048431" cy="10491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431" cy="1049129"/>
            </a:xfrm>
            <a:custGeom>
              <a:avLst/>
              <a:gdLst/>
              <a:ahLst/>
              <a:cxnLst/>
              <a:rect r="r" b="b" t="t" l="l"/>
              <a:pathLst>
                <a:path h="1049129" w="3048431">
                  <a:moveTo>
                    <a:pt x="3048431" y="19118"/>
                  </a:moveTo>
                  <a:lnTo>
                    <a:pt x="3048431" y="1030010"/>
                  </a:lnTo>
                  <a:cubicBezTo>
                    <a:pt x="3048431" y="1040569"/>
                    <a:pt x="3039871" y="1049129"/>
                    <a:pt x="3029313" y="1049129"/>
                  </a:cubicBezTo>
                  <a:lnTo>
                    <a:pt x="19118" y="1049129"/>
                  </a:lnTo>
                  <a:cubicBezTo>
                    <a:pt x="8560" y="1049129"/>
                    <a:pt x="0" y="1040569"/>
                    <a:pt x="0" y="1030010"/>
                  </a:cubicBezTo>
                  <a:lnTo>
                    <a:pt x="0" y="19118"/>
                  </a:lnTo>
                  <a:cubicBezTo>
                    <a:pt x="0" y="8560"/>
                    <a:pt x="8560" y="0"/>
                    <a:pt x="19118" y="0"/>
                  </a:cubicBezTo>
                  <a:lnTo>
                    <a:pt x="3029313" y="0"/>
                  </a:lnTo>
                  <a:cubicBezTo>
                    <a:pt x="3039871" y="0"/>
                    <a:pt x="3048431" y="8560"/>
                    <a:pt x="3048431" y="19118"/>
                  </a:cubicBezTo>
                  <a:close/>
                </a:path>
              </a:pathLst>
            </a:custGeom>
            <a:solidFill>
              <a:srgbClr val="FFDE59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76200"/>
              <a:ext cx="3048431" cy="97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086084" y="2122738"/>
            <a:ext cx="1201703" cy="925311"/>
          </a:xfrm>
          <a:custGeom>
            <a:avLst/>
            <a:gdLst/>
            <a:ahLst/>
            <a:cxnLst/>
            <a:rect r="r" b="b" t="t" l="l"/>
            <a:pathLst>
              <a:path h="925311" w="1201703">
                <a:moveTo>
                  <a:pt x="0" y="0"/>
                </a:moveTo>
                <a:lnTo>
                  <a:pt x="1201703" y="0"/>
                </a:lnTo>
                <a:lnTo>
                  <a:pt x="1201703" y="925311"/>
                </a:lnTo>
                <a:lnTo>
                  <a:pt x="0" y="9253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29860" y="2093459"/>
            <a:ext cx="1014298" cy="983869"/>
          </a:xfrm>
          <a:custGeom>
            <a:avLst/>
            <a:gdLst/>
            <a:ahLst/>
            <a:cxnLst/>
            <a:rect r="r" b="b" t="t" l="l"/>
            <a:pathLst>
              <a:path h="983869" w="1014298">
                <a:moveTo>
                  <a:pt x="0" y="0"/>
                </a:moveTo>
                <a:lnTo>
                  <a:pt x="1014298" y="0"/>
                </a:lnTo>
                <a:lnTo>
                  <a:pt x="1014298" y="983869"/>
                </a:lnTo>
                <a:lnTo>
                  <a:pt x="0" y="9838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786232" y="2032943"/>
            <a:ext cx="990013" cy="1053206"/>
          </a:xfrm>
          <a:custGeom>
            <a:avLst/>
            <a:gdLst/>
            <a:ahLst/>
            <a:cxnLst/>
            <a:rect r="r" b="b" t="t" l="l"/>
            <a:pathLst>
              <a:path h="1053206" w="990013">
                <a:moveTo>
                  <a:pt x="0" y="0"/>
                </a:moveTo>
                <a:lnTo>
                  <a:pt x="990013" y="0"/>
                </a:lnTo>
                <a:lnTo>
                  <a:pt x="990013" y="1053206"/>
                </a:lnTo>
                <a:lnTo>
                  <a:pt x="0" y="105320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57885" y="2427944"/>
            <a:ext cx="322973" cy="314899"/>
          </a:xfrm>
          <a:custGeom>
            <a:avLst/>
            <a:gdLst/>
            <a:ahLst/>
            <a:cxnLst/>
            <a:rect r="r" b="b" t="t" l="l"/>
            <a:pathLst>
              <a:path h="314899" w="322973">
                <a:moveTo>
                  <a:pt x="0" y="0"/>
                </a:moveTo>
                <a:lnTo>
                  <a:pt x="322973" y="0"/>
                </a:lnTo>
                <a:lnTo>
                  <a:pt x="322973" y="314899"/>
                </a:lnTo>
                <a:lnTo>
                  <a:pt x="0" y="3148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497337" y="2427944"/>
            <a:ext cx="322973" cy="314899"/>
          </a:xfrm>
          <a:custGeom>
            <a:avLst/>
            <a:gdLst/>
            <a:ahLst/>
            <a:cxnLst/>
            <a:rect r="r" b="b" t="t" l="l"/>
            <a:pathLst>
              <a:path h="314899" w="322973">
                <a:moveTo>
                  <a:pt x="0" y="0"/>
                </a:moveTo>
                <a:lnTo>
                  <a:pt x="322973" y="0"/>
                </a:lnTo>
                <a:lnTo>
                  <a:pt x="322973" y="314899"/>
                </a:lnTo>
                <a:lnTo>
                  <a:pt x="0" y="3148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53708" y="2427944"/>
            <a:ext cx="322973" cy="314899"/>
          </a:xfrm>
          <a:custGeom>
            <a:avLst/>
            <a:gdLst/>
            <a:ahLst/>
            <a:cxnLst/>
            <a:rect r="r" b="b" t="t" l="l"/>
            <a:pathLst>
              <a:path h="314899" w="322973">
                <a:moveTo>
                  <a:pt x="0" y="0"/>
                </a:moveTo>
                <a:lnTo>
                  <a:pt x="322974" y="0"/>
                </a:lnTo>
                <a:lnTo>
                  <a:pt x="322974" y="314899"/>
                </a:lnTo>
                <a:lnTo>
                  <a:pt x="0" y="3148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263523" y="2122738"/>
            <a:ext cx="1005773" cy="925311"/>
          </a:xfrm>
          <a:custGeom>
            <a:avLst/>
            <a:gdLst/>
            <a:ahLst/>
            <a:cxnLst/>
            <a:rect r="r" b="b" t="t" l="l"/>
            <a:pathLst>
              <a:path h="925311" w="1005773">
                <a:moveTo>
                  <a:pt x="0" y="0"/>
                </a:moveTo>
                <a:lnTo>
                  <a:pt x="1005773" y="0"/>
                </a:lnTo>
                <a:lnTo>
                  <a:pt x="1005773" y="925311"/>
                </a:lnTo>
                <a:lnTo>
                  <a:pt x="0" y="92531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149518" y="1028700"/>
            <a:ext cx="8098976" cy="806791"/>
          </a:xfrm>
          <a:custGeom>
            <a:avLst/>
            <a:gdLst/>
            <a:ahLst/>
            <a:cxnLst/>
            <a:rect r="r" b="b" t="t" l="l"/>
            <a:pathLst>
              <a:path h="806791" w="8098976">
                <a:moveTo>
                  <a:pt x="0" y="0"/>
                </a:moveTo>
                <a:lnTo>
                  <a:pt x="8098975" y="0"/>
                </a:lnTo>
                <a:lnTo>
                  <a:pt x="8098975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2643" t="-50026" r="0" b="-164241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433645" y="1167963"/>
            <a:ext cx="528265" cy="528265"/>
          </a:xfrm>
          <a:custGeom>
            <a:avLst/>
            <a:gdLst/>
            <a:ahLst/>
            <a:cxnLst/>
            <a:rect r="r" b="b" t="t" l="l"/>
            <a:pathLst>
              <a:path h="528265" w="528265">
                <a:moveTo>
                  <a:pt x="0" y="0"/>
                </a:moveTo>
                <a:lnTo>
                  <a:pt x="528265" y="0"/>
                </a:lnTo>
                <a:lnTo>
                  <a:pt x="528265" y="528265"/>
                </a:lnTo>
                <a:lnTo>
                  <a:pt x="0" y="52826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144000" y="4011646"/>
            <a:ext cx="8098976" cy="806791"/>
          </a:xfrm>
          <a:custGeom>
            <a:avLst/>
            <a:gdLst/>
            <a:ahLst/>
            <a:cxnLst/>
            <a:rect r="r" b="b" t="t" l="l"/>
            <a:pathLst>
              <a:path h="806791" w="8098976">
                <a:moveTo>
                  <a:pt x="0" y="0"/>
                </a:moveTo>
                <a:lnTo>
                  <a:pt x="8098976" y="0"/>
                </a:lnTo>
                <a:lnTo>
                  <a:pt x="8098976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2643" t="-50026" r="0" b="-164241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33645" y="4150909"/>
            <a:ext cx="528265" cy="528265"/>
          </a:xfrm>
          <a:custGeom>
            <a:avLst/>
            <a:gdLst/>
            <a:ahLst/>
            <a:cxnLst/>
            <a:rect r="r" b="b" t="t" l="l"/>
            <a:pathLst>
              <a:path h="528265" w="528265">
                <a:moveTo>
                  <a:pt x="0" y="0"/>
                </a:moveTo>
                <a:lnTo>
                  <a:pt x="528265" y="0"/>
                </a:lnTo>
                <a:lnTo>
                  <a:pt x="528265" y="528265"/>
                </a:lnTo>
                <a:lnTo>
                  <a:pt x="0" y="52826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442685" y="4965343"/>
            <a:ext cx="1059882" cy="1139658"/>
          </a:xfrm>
          <a:custGeom>
            <a:avLst/>
            <a:gdLst/>
            <a:ahLst/>
            <a:cxnLst/>
            <a:rect r="r" b="b" t="t" l="l"/>
            <a:pathLst>
              <a:path h="1139658" w="1059882">
                <a:moveTo>
                  <a:pt x="0" y="0"/>
                </a:moveTo>
                <a:lnTo>
                  <a:pt x="1059882" y="0"/>
                </a:lnTo>
                <a:lnTo>
                  <a:pt x="1059882" y="1139658"/>
                </a:lnTo>
                <a:lnTo>
                  <a:pt x="0" y="113965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241260" y="5029159"/>
            <a:ext cx="1215641" cy="1075842"/>
          </a:xfrm>
          <a:custGeom>
            <a:avLst/>
            <a:gdLst/>
            <a:ahLst/>
            <a:cxnLst/>
            <a:rect r="r" b="b" t="t" l="l"/>
            <a:pathLst>
              <a:path h="1075842" w="1215641">
                <a:moveTo>
                  <a:pt x="0" y="0"/>
                </a:moveTo>
                <a:lnTo>
                  <a:pt x="1215641" y="0"/>
                </a:lnTo>
                <a:lnTo>
                  <a:pt x="1215641" y="1075842"/>
                </a:lnTo>
                <a:lnTo>
                  <a:pt x="0" y="1075842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1" id="41"/>
          <p:cNvSpPr/>
          <p:nvPr/>
        </p:nvSpPr>
        <p:spPr>
          <a:xfrm>
            <a:off x="10747360" y="4649787"/>
            <a:ext cx="0" cy="705456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12323628" y="5661577"/>
            <a:ext cx="322973" cy="314899"/>
          </a:xfrm>
          <a:custGeom>
            <a:avLst/>
            <a:gdLst/>
            <a:ahLst/>
            <a:cxnLst/>
            <a:rect r="r" b="b" t="t" l="l"/>
            <a:pathLst>
              <a:path h="314899" w="322973">
                <a:moveTo>
                  <a:pt x="0" y="0"/>
                </a:moveTo>
                <a:lnTo>
                  <a:pt x="322973" y="0"/>
                </a:lnTo>
                <a:lnTo>
                  <a:pt x="322973" y="314899"/>
                </a:lnTo>
                <a:lnTo>
                  <a:pt x="0" y="3148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733691" y="5346372"/>
            <a:ext cx="512312" cy="512312"/>
          </a:xfrm>
          <a:custGeom>
            <a:avLst/>
            <a:gdLst/>
            <a:ahLst/>
            <a:cxnLst/>
            <a:rect r="r" b="b" t="t" l="l"/>
            <a:pathLst>
              <a:path h="512312" w="512312">
                <a:moveTo>
                  <a:pt x="0" y="0"/>
                </a:moveTo>
                <a:lnTo>
                  <a:pt x="512312" y="0"/>
                </a:lnTo>
                <a:lnTo>
                  <a:pt x="512312" y="512312"/>
                </a:lnTo>
                <a:lnTo>
                  <a:pt x="0" y="512312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165613" y="6981152"/>
            <a:ext cx="8098976" cy="806791"/>
          </a:xfrm>
          <a:custGeom>
            <a:avLst/>
            <a:gdLst/>
            <a:ahLst/>
            <a:cxnLst/>
            <a:rect r="r" b="b" t="t" l="l"/>
            <a:pathLst>
              <a:path h="806791" w="8098976">
                <a:moveTo>
                  <a:pt x="0" y="0"/>
                </a:moveTo>
                <a:lnTo>
                  <a:pt x="8098976" y="0"/>
                </a:lnTo>
                <a:lnTo>
                  <a:pt x="8098976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2643" t="-50026" r="0" b="-164241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443874" y="7124100"/>
            <a:ext cx="542145" cy="542145"/>
          </a:xfrm>
          <a:custGeom>
            <a:avLst/>
            <a:gdLst/>
            <a:ahLst/>
            <a:cxnLst/>
            <a:rect r="r" b="b" t="t" l="l"/>
            <a:pathLst>
              <a:path h="542145" w="542145">
                <a:moveTo>
                  <a:pt x="0" y="0"/>
                </a:moveTo>
                <a:lnTo>
                  <a:pt x="542145" y="0"/>
                </a:lnTo>
                <a:lnTo>
                  <a:pt x="542145" y="542145"/>
                </a:lnTo>
                <a:lnTo>
                  <a:pt x="0" y="54214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9415299" y="7987968"/>
            <a:ext cx="3069815" cy="1221991"/>
            <a:chOff x="0" y="0"/>
            <a:chExt cx="808511" cy="3218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8511" cy="321841"/>
            </a:xfrm>
            <a:custGeom>
              <a:avLst/>
              <a:gdLst/>
              <a:ahLst/>
              <a:cxnLst/>
              <a:rect r="r" b="b" t="t" l="l"/>
              <a:pathLst>
                <a:path h="321841" w="808511">
                  <a:moveTo>
                    <a:pt x="0" y="0"/>
                  </a:moveTo>
                  <a:lnTo>
                    <a:pt x="808511" y="0"/>
                  </a:lnTo>
                  <a:lnTo>
                    <a:pt x="808511" y="321841"/>
                  </a:lnTo>
                  <a:lnTo>
                    <a:pt x="0" y="32184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38100"/>
              <a:ext cx="808511" cy="283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039735" y="2869786"/>
            <a:ext cx="7765601" cy="806791"/>
          </a:xfrm>
          <a:custGeom>
            <a:avLst/>
            <a:gdLst/>
            <a:ahLst/>
            <a:cxnLst/>
            <a:rect r="r" b="b" t="t" l="l"/>
            <a:pathLst>
              <a:path h="806791" w="7765601">
                <a:moveTo>
                  <a:pt x="0" y="0"/>
                </a:moveTo>
                <a:lnTo>
                  <a:pt x="7765601" y="0"/>
                </a:lnTo>
                <a:lnTo>
                  <a:pt x="7765601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2756" t="-50026" r="-4292" b="-164241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95281" y="3009308"/>
            <a:ext cx="527746" cy="527746"/>
          </a:xfrm>
          <a:custGeom>
            <a:avLst/>
            <a:gdLst/>
            <a:ahLst/>
            <a:cxnLst/>
            <a:rect r="r" b="b" t="t" l="l"/>
            <a:pathLst>
              <a:path h="527746" w="527746">
                <a:moveTo>
                  <a:pt x="0" y="0"/>
                </a:moveTo>
                <a:lnTo>
                  <a:pt x="527747" y="0"/>
                </a:lnTo>
                <a:lnTo>
                  <a:pt x="527747" y="527747"/>
                </a:lnTo>
                <a:lnTo>
                  <a:pt x="0" y="52774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626092" y="5051448"/>
            <a:ext cx="483724" cy="483724"/>
          </a:xfrm>
          <a:custGeom>
            <a:avLst/>
            <a:gdLst/>
            <a:ahLst/>
            <a:cxnLst/>
            <a:rect r="r" b="b" t="t" l="l"/>
            <a:pathLst>
              <a:path h="483724" w="483724">
                <a:moveTo>
                  <a:pt x="0" y="0"/>
                </a:moveTo>
                <a:lnTo>
                  <a:pt x="483724" y="0"/>
                </a:lnTo>
                <a:lnTo>
                  <a:pt x="483724" y="483724"/>
                </a:lnTo>
                <a:lnTo>
                  <a:pt x="0" y="483724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532151" y="4248077"/>
            <a:ext cx="1454908" cy="1382163"/>
          </a:xfrm>
          <a:custGeom>
            <a:avLst/>
            <a:gdLst/>
            <a:ahLst/>
            <a:cxnLst/>
            <a:rect r="r" b="b" t="t" l="l"/>
            <a:pathLst>
              <a:path h="1382163" w="1454908">
                <a:moveTo>
                  <a:pt x="0" y="0"/>
                </a:moveTo>
                <a:lnTo>
                  <a:pt x="1454908" y="0"/>
                </a:lnTo>
                <a:lnTo>
                  <a:pt x="1454908" y="1382163"/>
                </a:lnTo>
                <a:lnTo>
                  <a:pt x="0" y="1382163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332081" y="4038527"/>
            <a:ext cx="5071747" cy="2445921"/>
            <a:chOff x="0" y="0"/>
            <a:chExt cx="1335769" cy="64419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35769" cy="644193"/>
            </a:xfrm>
            <a:custGeom>
              <a:avLst/>
              <a:gdLst/>
              <a:ahLst/>
              <a:cxnLst/>
              <a:rect r="r" b="b" t="t" l="l"/>
              <a:pathLst>
                <a:path h="644193" w="1335769">
                  <a:moveTo>
                    <a:pt x="0" y="0"/>
                  </a:moveTo>
                  <a:lnTo>
                    <a:pt x="1335769" y="0"/>
                  </a:lnTo>
                  <a:lnTo>
                    <a:pt x="1335769" y="644193"/>
                  </a:lnTo>
                  <a:lnTo>
                    <a:pt x="0" y="644193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38100"/>
              <a:ext cx="1335769" cy="606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AutoShape 56" id="56"/>
          <p:cNvSpPr/>
          <p:nvPr/>
        </p:nvSpPr>
        <p:spPr>
          <a:xfrm>
            <a:off x="6403828" y="4590936"/>
            <a:ext cx="1165596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flipV="true">
            <a:off x="7581935" y="4578322"/>
            <a:ext cx="0" cy="683166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none" len="sm" w="sm"/>
          </a:ln>
        </p:spPr>
      </p:sp>
      <p:sp>
        <p:nvSpPr>
          <p:cNvPr name="Freeform 58" id="58"/>
          <p:cNvSpPr/>
          <p:nvPr/>
        </p:nvSpPr>
        <p:spPr>
          <a:xfrm flipH="false" flipV="false" rot="0">
            <a:off x="6958615" y="5604790"/>
            <a:ext cx="1221618" cy="1142212"/>
          </a:xfrm>
          <a:custGeom>
            <a:avLst/>
            <a:gdLst/>
            <a:ahLst/>
            <a:cxnLst/>
            <a:rect r="r" b="b" t="t" l="l"/>
            <a:pathLst>
              <a:path h="1142212" w="1221618">
                <a:moveTo>
                  <a:pt x="0" y="0"/>
                </a:moveTo>
                <a:lnTo>
                  <a:pt x="1221618" y="0"/>
                </a:lnTo>
                <a:lnTo>
                  <a:pt x="1221618" y="1142213"/>
                </a:lnTo>
                <a:lnTo>
                  <a:pt x="0" y="1142213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9571478" y="3105199"/>
            <a:ext cx="2408086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Inflammation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821864" y="3162349"/>
            <a:ext cx="1730142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Oxidative stress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625905" y="3162349"/>
            <a:ext cx="1822209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ECM degradation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303176" y="3162349"/>
            <a:ext cx="1956124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 pH changes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93271" y="8178867"/>
            <a:ext cx="2829462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small molecules modulate GPR68 to </a:t>
            </a:r>
            <a:r>
              <a:rPr lang="en-US" b="true" sz="2100" u="sng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protect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chondrocytes?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95281" y="5680627"/>
            <a:ext cx="240808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AI-Assisted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Screening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200258" y="8298062"/>
            <a:ext cx="240808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Validation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96909" y="8131028"/>
            <a:ext cx="203210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Cartilage Outcomes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99484" y="981075"/>
            <a:ext cx="5508860" cy="152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Target the OA Microenvironment?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188304" y="1265725"/>
            <a:ext cx="511487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2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OA is </a:t>
            </a:r>
            <a:r>
              <a:rPr lang="en-US" b="true" sz="2600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more than</a:t>
            </a:r>
            <a:r>
              <a:rPr lang="en-US" b="true" sz="2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just </a:t>
            </a:r>
            <a:r>
              <a:rPr lang="en-US" sz="2600" b="true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cartilage wear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188304" y="4248671"/>
            <a:ext cx="511487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2600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</a:t>
            </a:r>
            <a:r>
              <a:rPr lang="en-US" b="true" sz="2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can </a:t>
            </a:r>
            <a:r>
              <a:rPr lang="en-US" sz="2600" b="true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sense acidity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84829" y="5490732"/>
            <a:ext cx="2163160" cy="6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proton-sensing</a:t>
            </a:r>
          </a:p>
          <a:p>
            <a:pPr algn="ctr">
              <a:lnSpc>
                <a:spcPts val="2600"/>
              </a:lnSpc>
            </a:pPr>
            <a:r>
              <a:rPr lang="en-US" b="true" sz="2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GPCR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11482" y="6143263"/>
            <a:ext cx="1822209" cy="44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extracellular acidification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061521" y="6243276"/>
            <a:ext cx="1822209" cy="24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cell signalling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188304" y="7228802"/>
            <a:ext cx="41534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b="true" sz="26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Therapeutic Question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33115" y="3106812"/>
            <a:ext cx="41534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 Hypothesis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200258" y="5680627"/>
            <a:ext cx="2118695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Structure-Based</a:t>
            </a:r>
          </a:p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77892" y="6925907"/>
            <a:ext cx="2408086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Identify GPR68 Modulators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537560" y="5330342"/>
            <a:ext cx="2066534" cy="2308212"/>
            <a:chOff x="0" y="0"/>
            <a:chExt cx="544272" cy="6079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4272" cy="607924"/>
            </a:xfrm>
            <a:custGeom>
              <a:avLst/>
              <a:gdLst/>
              <a:ahLst/>
              <a:cxnLst/>
              <a:rect r="r" b="b" t="t" l="l"/>
              <a:pathLst>
                <a:path h="607924" w="544272">
                  <a:moveTo>
                    <a:pt x="0" y="0"/>
                  </a:moveTo>
                  <a:lnTo>
                    <a:pt x="544272" y="0"/>
                  </a:lnTo>
                  <a:lnTo>
                    <a:pt x="544272" y="607924"/>
                  </a:lnTo>
                  <a:lnTo>
                    <a:pt x="0" y="60792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38100"/>
              <a:ext cx="544272" cy="569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 flipV="true">
            <a:off x="6416339" y="8279012"/>
            <a:ext cx="1184646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V="true">
            <a:off x="7600985" y="7612945"/>
            <a:ext cx="0" cy="666067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V="true">
            <a:off x="3703367" y="8279012"/>
            <a:ext cx="633926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1708" y="1851758"/>
            <a:ext cx="14783424" cy="807895"/>
            <a:chOff x="0" y="0"/>
            <a:chExt cx="5564520" cy="3040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1708" y="1851758"/>
            <a:ext cx="4304425" cy="806791"/>
          </a:xfrm>
          <a:custGeom>
            <a:avLst/>
            <a:gdLst/>
            <a:ahLst/>
            <a:cxnLst/>
            <a:rect r="r" b="b" t="t" l="l"/>
            <a:pathLst>
              <a:path h="806791" w="4304425">
                <a:moveTo>
                  <a:pt x="0" y="0"/>
                </a:moveTo>
                <a:lnTo>
                  <a:pt x="4304425" y="0"/>
                </a:lnTo>
                <a:lnTo>
                  <a:pt x="4304425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77" t="-36015" r="-61799" b="-134232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21708" y="2810431"/>
            <a:ext cx="14783424" cy="807895"/>
            <a:chOff x="0" y="0"/>
            <a:chExt cx="5564520" cy="3040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1708" y="3770727"/>
            <a:ext cx="14783424" cy="807895"/>
            <a:chOff x="0" y="0"/>
            <a:chExt cx="5564520" cy="3040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21708" y="4731022"/>
            <a:ext cx="14783424" cy="807895"/>
            <a:chOff x="0" y="0"/>
            <a:chExt cx="5564520" cy="304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21708" y="5699848"/>
            <a:ext cx="14783424" cy="807895"/>
            <a:chOff x="0" y="0"/>
            <a:chExt cx="5564520" cy="3040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28194" y="6638693"/>
            <a:ext cx="14776937" cy="807895"/>
            <a:chOff x="0" y="0"/>
            <a:chExt cx="5562078" cy="3040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62078" cy="304094"/>
            </a:xfrm>
            <a:custGeom>
              <a:avLst/>
              <a:gdLst/>
              <a:ahLst/>
              <a:cxnLst/>
              <a:rect r="r" b="b" t="t" l="l"/>
              <a:pathLst>
                <a:path h="304094" w="5562078">
                  <a:moveTo>
                    <a:pt x="0" y="0"/>
                  </a:moveTo>
                  <a:lnTo>
                    <a:pt x="5562078" y="0"/>
                  </a:lnTo>
                  <a:lnTo>
                    <a:pt x="5562078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76200"/>
              <a:ext cx="5562078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1708" y="7608514"/>
            <a:ext cx="14783424" cy="807895"/>
            <a:chOff x="0" y="0"/>
            <a:chExt cx="5564520" cy="3040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1708" y="8568809"/>
            <a:ext cx="14783424" cy="807895"/>
            <a:chOff x="0" y="0"/>
            <a:chExt cx="5564520" cy="304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64520" cy="304094"/>
            </a:xfrm>
            <a:custGeom>
              <a:avLst/>
              <a:gdLst/>
              <a:ahLst/>
              <a:cxnLst/>
              <a:rect r="r" b="b" t="t" l="l"/>
              <a:pathLst>
                <a:path h="304094" w="5564520">
                  <a:moveTo>
                    <a:pt x="0" y="0"/>
                  </a:moveTo>
                  <a:lnTo>
                    <a:pt x="5564520" y="0"/>
                  </a:lnTo>
                  <a:lnTo>
                    <a:pt x="5564520" y="304094"/>
                  </a:lnTo>
                  <a:lnTo>
                    <a:pt x="0" y="304094"/>
                  </a:ln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76200"/>
              <a:ext cx="5564520" cy="227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528194" y="2810431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9" y="0"/>
                </a:lnTo>
                <a:lnTo>
                  <a:pt x="4297939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75410" y="1991021"/>
            <a:ext cx="528265" cy="528265"/>
          </a:xfrm>
          <a:custGeom>
            <a:avLst/>
            <a:gdLst/>
            <a:ahLst/>
            <a:cxnLst/>
            <a:rect r="r" b="b" t="t" l="l"/>
            <a:pathLst>
              <a:path h="528265" w="528265">
                <a:moveTo>
                  <a:pt x="0" y="0"/>
                </a:moveTo>
                <a:lnTo>
                  <a:pt x="528264" y="0"/>
                </a:lnTo>
                <a:lnTo>
                  <a:pt x="528264" y="528264"/>
                </a:lnTo>
                <a:lnTo>
                  <a:pt x="0" y="528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5410" y="2949694"/>
            <a:ext cx="528265" cy="528265"/>
          </a:xfrm>
          <a:custGeom>
            <a:avLst/>
            <a:gdLst/>
            <a:ahLst/>
            <a:cxnLst/>
            <a:rect r="r" b="b" t="t" l="l"/>
            <a:pathLst>
              <a:path h="528265" w="528265">
                <a:moveTo>
                  <a:pt x="0" y="0"/>
                </a:moveTo>
                <a:lnTo>
                  <a:pt x="528264" y="0"/>
                </a:lnTo>
                <a:lnTo>
                  <a:pt x="528264" y="528265"/>
                </a:lnTo>
                <a:lnTo>
                  <a:pt x="0" y="5282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8194" y="3762306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9" y="0"/>
                </a:lnTo>
                <a:lnTo>
                  <a:pt x="4297939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75410" y="3901569"/>
            <a:ext cx="528265" cy="528265"/>
          </a:xfrm>
          <a:custGeom>
            <a:avLst/>
            <a:gdLst/>
            <a:ahLst/>
            <a:cxnLst/>
            <a:rect r="r" b="b" t="t" l="l"/>
            <a:pathLst>
              <a:path h="528265" w="528265">
                <a:moveTo>
                  <a:pt x="0" y="0"/>
                </a:moveTo>
                <a:lnTo>
                  <a:pt x="528264" y="0"/>
                </a:lnTo>
                <a:lnTo>
                  <a:pt x="528264" y="528265"/>
                </a:lnTo>
                <a:lnTo>
                  <a:pt x="0" y="5282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8194" y="4740104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9" y="0"/>
                </a:lnTo>
                <a:lnTo>
                  <a:pt x="4297939" y="806792"/>
                </a:lnTo>
                <a:lnTo>
                  <a:pt x="0" y="80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75410" y="4881593"/>
            <a:ext cx="523815" cy="523815"/>
          </a:xfrm>
          <a:custGeom>
            <a:avLst/>
            <a:gdLst/>
            <a:ahLst/>
            <a:cxnLst/>
            <a:rect r="r" b="b" t="t" l="l"/>
            <a:pathLst>
              <a:path h="523815" w="523815">
                <a:moveTo>
                  <a:pt x="0" y="0"/>
                </a:moveTo>
                <a:lnTo>
                  <a:pt x="523814" y="0"/>
                </a:lnTo>
                <a:lnTo>
                  <a:pt x="523814" y="523814"/>
                </a:lnTo>
                <a:lnTo>
                  <a:pt x="0" y="5238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5400000">
            <a:off x="15190463" y="2597364"/>
            <a:ext cx="505629" cy="349472"/>
            <a:chOff x="0" y="0"/>
            <a:chExt cx="1175988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15190463" y="3556037"/>
            <a:ext cx="505629" cy="349472"/>
            <a:chOff x="0" y="0"/>
            <a:chExt cx="1175988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5400000">
            <a:off x="15190463" y="4514711"/>
            <a:ext cx="505629" cy="349472"/>
            <a:chOff x="0" y="0"/>
            <a:chExt cx="1175988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15190463" y="5473385"/>
            <a:ext cx="505629" cy="349472"/>
            <a:chOff x="0" y="0"/>
            <a:chExt cx="1175988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5400000">
            <a:off x="15190463" y="6432058"/>
            <a:ext cx="505629" cy="349472"/>
            <a:chOff x="0" y="0"/>
            <a:chExt cx="1175988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5400000">
            <a:off x="15190463" y="7390732"/>
            <a:ext cx="505629" cy="349472"/>
            <a:chOff x="0" y="0"/>
            <a:chExt cx="1175988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5400000">
            <a:off x="15190463" y="8349405"/>
            <a:ext cx="505629" cy="349472"/>
            <a:chOff x="0" y="0"/>
            <a:chExt cx="1175988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5988" cy="812800"/>
            </a:xfrm>
            <a:custGeom>
              <a:avLst/>
              <a:gdLst/>
              <a:ahLst/>
              <a:cxnLst/>
              <a:rect r="r" b="b" t="t" l="l"/>
              <a:pathLst>
                <a:path h="812800" w="1175988">
                  <a:moveTo>
                    <a:pt x="1175988" y="406400"/>
                  </a:moveTo>
                  <a:lnTo>
                    <a:pt x="769588" y="0"/>
                  </a:lnTo>
                  <a:lnTo>
                    <a:pt x="76958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69588" y="609600"/>
                  </a:lnTo>
                  <a:lnTo>
                    <a:pt x="769588" y="812800"/>
                  </a:lnTo>
                  <a:lnTo>
                    <a:pt x="1175988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174625"/>
              <a:ext cx="1074388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521708" y="5699296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8" y="0"/>
                </a:lnTo>
                <a:lnTo>
                  <a:pt x="4297938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21708" y="6639798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8" y="0"/>
                </a:lnTo>
                <a:lnTo>
                  <a:pt x="4297938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21708" y="7608514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8" y="0"/>
                </a:lnTo>
                <a:lnTo>
                  <a:pt x="4297938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21708" y="8569913"/>
            <a:ext cx="4297938" cy="806791"/>
          </a:xfrm>
          <a:custGeom>
            <a:avLst/>
            <a:gdLst/>
            <a:ahLst/>
            <a:cxnLst/>
            <a:rect r="r" b="b" t="t" l="l"/>
            <a:pathLst>
              <a:path h="806791" w="4297938">
                <a:moveTo>
                  <a:pt x="0" y="0"/>
                </a:moveTo>
                <a:lnTo>
                  <a:pt x="4297938" y="0"/>
                </a:lnTo>
                <a:lnTo>
                  <a:pt x="4297938" y="806792"/>
                </a:lnTo>
                <a:lnTo>
                  <a:pt x="0" y="80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83" t="-36015" r="-62043" b="-134232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679860" y="5841888"/>
            <a:ext cx="523815" cy="523815"/>
          </a:xfrm>
          <a:custGeom>
            <a:avLst/>
            <a:gdLst/>
            <a:ahLst/>
            <a:cxnLst/>
            <a:rect r="r" b="b" t="t" l="l"/>
            <a:pathLst>
              <a:path h="523815" w="523815">
                <a:moveTo>
                  <a:pt x="0" y="0"/>
                </a:moveTo>
                <a:lnTo>
                  <a:pt x="523814" y="0"/>
                </a:lnTo>
                <a:lnTo>
                  <a:pt x="523814" y="523815"/>
                </a:lnTo>
                <a:lnTo>
                  <a:pt x="0" y="523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679860" y="6780734"/>
            <a:ext cx="523815" cy="523815"/>
          </a:xfrm>
          <a:custGeom>
            <a:avLst/>
            <a:gdLst/>
            <a:ahLst/>
            <a:cxnLst/>
            <a:rect r="r" b="b" t="t" l="l"/>
            <a:pathLst>
              <a:path h="523815" w="523815">
                <a:moveTo>
                  <a:pt x="0" y="0"/>
                </a:moveTo>
                <a:lnTo>
                  <a:pt x="523814" y="0"/>
                </a:lnTo>
                <a:lnTo>
                  <a:pt x="523814" y="523814"/>
                </a:lnTo>
                <a:lnTo>
                  <a:pt x="0" y="5238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677635" y="7756181"/>
            <a:ext cx="523815" cy="523815"/>
          </a:xfrm>
          <a:custGeom>
            <a:avLst/>
            <a:gdLst/>
            <a:ahLst/>
            <a:cxnLst/>
            <a:rect r="r" b="b" t="t" l="l"/>
            <a:pathLst>
              <a:path h="523815" w="523815">
                <a:moveTo>
                  <a:pt x="0" y="0"/>
                </a:moveTo>
                <a:lnTo>
                  <a:pt x="523814" y="0"/>
                </a:lnTo>
                <a:lnTo>
                  <a:pt x="523814" y="523815"/>
                </a:lnTo>
                <a:lnTo>
                  <a:pt x="0" y="5238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667510" y="8692634"/>
            <a:ext cx="548513" cy="548513"/>
          </a:xfrm>
          <a:custGeom>
            <a:avLst/>
            <a:gdLst/>
            <a:ahLst/>
            <a:cxnLst/>
            <a:rect r="r" b="b" t="t" l="l"/>
            <a:pathLst>
              <a:path h="548513" w="548513">
                <a:moveTo>
                  <a:pt x="0" y="0"/>
                </a:moveTo>
                <a:lnTo>
                  <a:pt x="548514" y="0"/>
                </a:lnTo>
                <a:lnTo>
                  <a:pt x="548514" y="548514"/>
                </a:lnTo>
                <a:lnTo>
                  <a:pt x="0" y="5485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028700" y="981075"/>
            <a:ext cx="15823294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Complete </a:t>
            </a:r>
            <a:r>
              <a:rPr lang="en-US" b="true" sz="4800" spc="-192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Prediction</a:t>
            </a: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⟶ </a:t>
            </a:r>
            <a:r>
              <a:rPr lang="en-US" b="true" sz="4800" spc="-192">
                <a:solidFill>
                  <a:srgbClr val="DF7FB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</a:t>
            </a: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⟶ </a:t>
            </a:r>
            <a:r>
              <a:rPr lang="en-US" b="true" sz="4800" spc="-192">
                <a:solidFill>
                  <a:srgbClr val="18B5A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Mechanism</a:t>
            </a: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Pipeline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428360" y="2055680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3000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Known Ligands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140983" y="2104893"/>
            <a:ext cx="41534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 a GPR68 reference set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140983" y="3063014"/>
            <a:ext cx="41534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Descriptors + fingerprints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428360" y="3013802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Molecular Features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428360" y="3961227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/ ML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140983" y="4014889"/>
            <a:ext cx="5117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Prioritise promising chemistry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428360" y="4943475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Docking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140983" y="4994952"/>
            <a:ext cx="5117547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structural plausibility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428360" y="5903770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6-10 Compounds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428360" y="6884933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 Assay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28360" y="7818064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OA Cells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428360" y="8772732"/>
            <a:ext cx="415340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Mechanism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140983" y="5966375"/>
            <a:ext cx="52481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 diverse, purchasable candidates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140983" y="6907793"/>
            <a:ext cx="52481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Confirm receptor-level modulation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140983" y="7856164"/>
            <a:ext cx="52481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cartilage-protective effect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185435" y="8797409"/>
            <a:ext cx="591713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 knockdown / target dependence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86452"/>
            <a:ext cx="5037656" cy="5138201"/>
            <a:chOff x="0" y="0"/>
            <a:chExt cx="1896159" cy="1934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6159" cy="1934168"/>
            </a:xfrm>
            <a:custGeom>
              <a:avLst/>
              <a:gdLst/>
              <a:ahLst/>
              <a:cxnLst/>
              <a:rect r="r" b="b" t="t" l="l"/>
              <a:pathLst>
                <a:path h="1934168" w="1896159">
                  <a:moveTo>
                    <a:pt x="1896159" y="30736"/>
                  </a:moveTo>
                  <a:lnTo>
                    <a:pt x="1896159" y="1903432"/>
                  </a:lnTo>
                  <a:cubicBezTo>
                    <a:pt x="1896159" y="1911584"/>
                    <a:pt x="1892921" y="1919402"/>
                    <a:pt x="1887157" y="1925166"/>
                  </a:cubicBezTo>
                  <a:cubicBezTo>
                    <a:pt x="1881393" y="1930930"/>
                    <a:pt x="1873575" y="1934168"/>
                    <a:pt x="1865423" y="1934168"/>
                  </a:cubicBezTo>
                  <a:lnTo>
                    <a:pt x="30736" y="1934168"/>
                  </a:lnTo>
                  <a:cubicBezTo>
                    <a:pt x="22584" y="1934168"/>
                    <a:pt x="14767" y="1930930"/>
                    <a:pt x="9002" y="1925166"/>
                  </a:cubicBezTo>
                  <a:cubicBezTo>
                    <a:pt x="3238" y="1919402"/>
                    <a:pt x="0" y="1911584"/>
                    <a:pt x="0" y="1903432"/>
                  </a:cubicBezTo>
                  <a:lnTo>
                    <a:pt x="0" y="30736"/>
                  </a:lnTo>
                  <a:cubicBezTo>
                    <a:pt x="0" y="13761"/>
                    <a:pt x="13761" y="0"/>
                    <a:pt x="30736" y="0"/>
                  </a:cubicBezTo>
                  <a:lnTo>
                    <a:pt x="1865423" y="0"/>
                  </a:lnTo>
                  <a:cubicBezTo>
                    <a:pt x="1882398" y="0"/>
                    <a:pt x="1896159" y="13761"/>
                    <a:pt x="1896159" y="30736"/>
                  </a:cubicBezTo>
                  <a:close/>
                </a:path>
              </a:pathLst>
            </a:custGeom>
            <a:solidFill>
              <a:srgbClr val="FF2828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1896159" cy="1857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94956" y="1986452"/>
            <a:ext cx="5319545" cy="5138201"/>
            <a:chOff x="0" y="0"/>
            <a:chExt cx="2002261" cy="1934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2262" cy="1934168"/>
            </a:xfrm>
            <a:custGeom>
              <a:avLst/>
              <a:gdLst/>
              <a:ahLst/>
              <a:cxnLst/>
              <a:rect r="r" b="b" t="t" l="l"/>
              <a:pathLst>
                <a:path h="1934168" w="2002262">
                  <a:moveTo>
                    <a:pt x="2002262" y="29107"/>
                  </a:moveTo>
                  <a:lnTo>
                    <a:pt x="2002262" y="1905061"/>
                  </a:lnTo>
                  <a:cubicBezTo>
                    <a:pt x="2002262" y="1912781"/>
                    <a:pt x="1999195" y="1920184"/>
                    <a:pt x="1993736" y="1925643"/>
                  </a:cubicBezTo>
                  <a:cubicBezTo>
                    <a:pt x="1988277" y="1931102"/>
                    <a:pt x="1980874" y="1934168"/>
                    <a:pt x="1973154" y="1934168"/>
                  </a:cubicBezTo>
                  <a:lnTo>
                    <a:pt x="29107" y="1934168"/>
                  </a:lnTo>
                  <a:cubicBezTo>
                    <a:pt x="21388" y="1934168"/>
                    <a:pt x="13984" y="1931102"/>
                    <a:pt x="8525" y="1925643"/>
                  </a:cubicBezTo>
                  <a:cubicBezTo>
                    <a:pt x="3067" y="1920184"/>
                    <a:pt x="0" y="1912781"/>
                    <a:pt x="0" y="1905061"/>
                  </a:cubicBezTo>
                  <a:lnTo>
                    <a:pt x="0" y="29107"/>
                  </a:lnTo>
                  <a:cubicBezTo>
                    <a:pt x="0" y="21388"/>
                    <a:pt x="3067" y="13984"/>
                    <a:pt x="8525" y="8525"/>
                  </a:cubicBezTo>
                  <a:cubicBezTo>
                    <a:pt x="13984" y="3067"/>
                    <a:pt x="21388" y="0"/>
                    <a:pt x="29107" y="0"/>
                  </a:cubicBezTo>
                  <a:lnTo>
                    <a:pt x="1973154" y="0"/>
                  </a:lnTo>
                  <a:cubicBezTo>
                    <a:pt x="1980874" y="0"/>
                    <a:pt x="1988277" y="3067"/>
                    <a:pt x="1993736" y="8525"/>
                  </a:cubicBezTo>
                  <a:cubicBezTo>
                    <a:pt x="1999195" y="13984"/>
                    <a:pt x="2002262" y="21388"/>
                    <a:pt x="2002262" y="29107"/>
                  </a:cubicBezTo>
                  <a:close/>
                </a:path>
              </a:pathLst>
            </a:custGeom>
            <a:solidFill>
              <a:srgbClr val="FF751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002261" cy="1857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43102" y="1986452"/>
            <a:ext cx="5416198" cy="5138201"/>
            <a:chOff x="0" y="0"/>
            <a:chExt cx="2038641" cy="1934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8641" cy="1934168"/>
            </a:xfrm>
            <a:custGeom>
              <a:avLst/>
              <a:gdLst/>
              <a:ahLst/>
              <a:cxnLst/>
              <a:rect r="r" b="b" t="t" l="l"/>
              <a:pathLst>
                <a:path h="1934168" w="2038641">
                  <a:moveTo>
                    <a:pt x="2038641" y="28588"/>
                  </a:moveTo>
                  <a:lnTo>
                    <a:pt x="2038641" y="1905580"/>
                  </a:lnTo>
                  <a:cubicBezTo>
                    <a:pt x="2038641" y="1921369"/>
                    <a:pt x="2025842" y="1934168"/>
                    <a:pt x="2010053" y="1934168"/>
                  </a:cubicBezTo>
                  <a:lnTo>
                    <a:pt x="28588" y="1934168"/>
                  </a:lnTo>
                  <a:cubicBezTo>
                    <a:pt x="12799" y="1934168"/>
                    <a:pt x="0" y="1921369"/>
                    <a:pt x="0" y="1905580"/>
                  </a:cubicBezTo>
                  <a:lnTo>
                    <a:pt x="0" y="28588"/>
                  </a:lnTo>
                  <a:cubicBezTo>
                    <a:pt x="0" y="12799"/>
                    <a:pt x="12799" y="0"/>
                    <a:pt x="28588" y="0"/>
                  </a:cubicBezTo>
                  <a:lnTo>
                    <a:pt x="2010053" y="0"/>
                  </a:lnTo>
                  <a:cubicBezTo>
                    <a:pt x="2025842" y="0"/>
                    <a:pt x="2038641" y="12799"/>
                    <a:pt x="2038641" y="28588"/>
                  </a:cubicBezTo>
                  <a:close/>
                </a:path>
              </a:pathLst>
            </a:custGeom>
            <a:solidFill>
              <a:srgbClr val="C1FF72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2038641" cy="1857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45191" y="4617384"/>
            <a:ext cx="4869642" cy="1134025"/>
            <a:chOff x="0" y="0"/>
            <a:chExt cx="1282539" cy="298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539" cy="298673"/>
            </a:xfrm>
            <a:custGeom>
              <a:avLst/>
              <a:gdLst/>
              <a:ahLst/>
              <a:cxnLst/>
              <a:rect r="r" b="b" t="t" l="l"/>
              <a:pathLst>
                <a:path h="298673" w="1282539">
                  <a:moveTo>
                    <a:pt x="0" y="0"/>
                  </a:moveTo>
                  <a:lnTo>
                    <a:pt x="1282539" y="0"/>
                  </a:lnTo>
                  <a:lnTo>
                    <a:pt x="1282539" y="298673"/>
                  </a:lnTo>
                  <a:lnTo>
                    <a:pt x="0" y="298673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282539" cy="26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45191" y="5820196"/>
            <a:ext cx="4869642" cy="1134025"/>
            <a:chOff x="0" y="0"/>
            <a:chExt cx="1282539" cy="298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2539" cy="298673"/>
            </a:xfrm>
            <a:custGeom>
              <a:avLst/>
              <a:gdLst/>
              <a:ahLst/>
              <a:cxnLst/>
              <a:rect r="r" b="b" t="t" l="l"/>
              <a:pathLst>
                <a:path h="298673" w="1282539">
                  <a:moveTo>
                    <a:pt x="0" y="0"/>
                  </a:moveTo>
                  <a:lnTo>
                    <a:pt x="1282539" y="0"/>
                  </a:lnTo>
                  <a:lnTo>
                    <a:pt x="1282539" y="298673"/>
                  </a:lnTo>
                  <a:lnTo>
                    <a:pt x="0" y="298673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282539" cy="26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45191" y="3414571"/>
            <a:ext cx="4869642" cy="1134025"/>
            <a:chOff x="0" y="0"/>
            <a:chExt cx="1282539" cy="298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2539" cy="298673"/>
            </a:xfrm>
            <a:custGeom>
              <a:avLst/>
              <a:gdLst/>
              <a:ahLst/>
              <a:cxnLst/>
              <a:rect r="r" b="b" t="t" l="l"/>
              <a:pathLst>
                <a:path h="298673" w="1282539">
                  <a:moveTo>
                    <a:pt x="0" y="0"/>
                  </a:moveTo>
                  <a:lnTo>
                    <a:pt x="1282539" y="0"/>
                  </a:lnTo>
                  <a:lnTo>
                    <a:pt x="1282539" y="298673"/>
                  </a:lnTo>
                  <a:lnTo>
                    <a:pt x="0" y="298673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1282539" cy="260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2741" y="7391353"/>
            <a:ext cx="16226559" cy="1845875"/>
            <a:chOff x="0" y="0"/>
            <a:chExt cx="6254612" cy="7115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54612" cy="711563"/>
            </a:xfrm>
            <a:custGeom>
              <a:avLst/>
              <a:gdLst/>
              <a:ahLst/>
              <a:cxnLst/>
              <a:rect r="r" b="b" t="t" l="l"/>
              <a:pathLst>
                <a:path h="711563" w="6254612">
                  <a:moveTo>
                    <a:pt x="6254612" y="9542"/>
                  </a:moveTo>
                  <a:lnTo>
                    <a:pt x="6254612" y="702020"/>
                  </a:lnTo>
                  <a:cubicBezTo>
                    <a:pt x="6254612" y="707291"/>
                    <a:pt x="6250340" y="711563"/>
                    <a:pt x="6245070" y="711563"/>
                  </a:cubicBezTo>
                  <a:lnTo>
                    <a:pt x="9542" y="711563"/>
                  </a:lnTo>
                  <a:cubicBezTo>
                    <a:pt x="4272" y="711563"/>
                    <a:pt x="0" y="707291"/>
                    <a:pt x="0" y="702020"/>
                  </a:cubicBezTo>
                  <a:lnTo>
                    <a:pt x="0" y="9542"/>
                  </a:lnTo>
                  <a:cubicBezTo>
                    <a:pt x="0" y="4272"/>
                    <a:pt x="4272" y="0"/>
                    <a:pt x="9542" y="0"/>
                  </a:cubicBezTo>
                  <a:lnTo>
                    <a:pt x="6245070" y="0"/>
                  </a:lnTo>
                  <a:cubicBezTo>
                    <a:pt x="6250340" y="0"/>
                    <a:pt x="6254612" y="4272"/>
                    <a:pt x="6254612" y="9542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76200"/>
              <a:ext cx="6254612" cy="63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28700" y="1986452"/>
            <a:ext cx="5033616" cy="756121"/>
          </a:xfrm>
          <a:custGeom>
            <a:avLst/>
            <a:gdLst/>
            <a:ahLst/>
            <a:cxnLst/>
            <a:rect r="r" b="b" t="t" l="l"/>
            <a:pathLst>
              <a:path h="756121" w="5033616">
                <a:moveTo>
                  <a:pt x="0" y="0"/>
                </a:moveTo>
                <a:lnTo>
                  <a:pt x="5033616" y="0"/>
                </a:lnTo>
                <a:lnTo>
                  <a:pt x="5033616" y="756121"/>
                </a:lnTo>
                <a:lnTo>
                  <a:pt x="0" y="756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57" t="-45130" r="-38360" b="-143227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25161" y="1716940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3"/>
                </a:lnTo>
                <a:lnTo>
                  <a:pt x="0" y="64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 flipV="true">
            <a:off x="4305896" y="7656217"/>
            <a:ext cx="0" cy="1285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4711286" y="7811624"/>
            <a:ext cx="1004562" cy="974425"/>
          </a:xfrm>
          <a:custGeom>
            <a:avLst/>
            <a:gdLst/>
            <a:ahLst/>
            <a:cxnLst/>
            <a:rect r="r" b="b" t="t" l="l"/>
            <a:pathLst>
              <a:path h="974425" w="1004562">
                <a:moveTo>
                  <a:pt x="0" y="0"/>
                </a:moveTo>
                <a:lnTo>
                  <a:pt x="1004562" y="0"/>
                </a:lnTo>
                <a:lnTo>
                  <a:pt x="1004562" y="974425"/>
                </a:lnTo>
                <a:lnTo>
                  <a:pt x="0" y="97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012353" y="7769882"/>
            <a:ext cx="1140121" cy="1088816"/>
          </a:xfrm>
          <a:custGeom>
            <a:avLst/>
            <a:gdLst/>
            <a:ahLst/>
            <a:cxnLst/>
            <a:rect r="r" b="b" t="t" l="l"/>
            <a:pathLst>
              <a:path h="1088816" w="1140121">
                <a:moveTo>
                  <a:pt x="0" y="0"/>
                </a:moveTo>
                <a:lnTo>
                  <a:pt x="1140122" y="0"/>
                </a:lnTo>
                <a:lnTo>
                  <a:pt x="1140122" y="1088816"/>
                </a:lnTo>
                <a:lnTo>
                  <a:pt x="0" y="1088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55293" y="7829503"/>
            <a:ext cx="1378525" cy="854686"/>
          </a:xfrm>
          <a:custGeom>
            <a:avLst/>
            <a:gdLst/>
            <a:ahLst/>
            <a:cxnLst/>
            <a:rect r="r" b="b" t="t" l="l"/>
            <a:pathLst>
              <a:path h="854686" w="1378525">
                <a:moveTo>
                  <a:pt x="0" y="0"/>
                </a:moveTo>
                <a:lnTo>
                  <a:pt x="1378525" y="0"/>
                </a:lnTo>
                <a:lnTo>
                  <a:pt x="1378525" y="854685"/>
                </a:lnTo>
                <a:lnTo>
                  <a:pt x="0" y="854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15191" y="7656217"/>
            <a:ext cx="850567" cy="1197981"/>
          </a:xfrm>
          <a:custGeom>
            <a:avLst/>
            <a:gdLst/>
            <a:ahLst/>
            <a:cxnLst/>
            <a:rect r="r" b="b" t="t" l="l"/>
            <a:pathLst>
              <a:path h="1197981" w="850567">
                <a:moveTo>
                  <a:pt x="0" y="0"/>
                </a:moveTo>
                <a:lnTo>
                  <a:pt x="850567" y="0"/>
                </a:lnTo>
                <a:lnTo>
                  <a:pt x="850567" y="1197981"/>
                </a:lnTo>
                <a:lnTo>
                  <a:pt x="0" y="1197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730305" y="8031502"/>
            <a:ext cx="1634821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Rational Target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85800" y="7969191"/>
            <a:ext cx="163482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Predicted Molecule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08001" y="8124101"/>
            <a:ext cx="349472" cy="34947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80361" y="8082110"/>
            <a:ext cx="349472" cy="34947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113319" y="8124101"/>
            <a:ext cx="349472" cy="34947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6637856" y="3131872"/>
            <a:ext cx="2124897" cy="1423681"/>
          </a:xfrm>
          <a:custGeom>
            <a:avLst/>
            <a:gdLst/>
            <a:ahLst/>
            <a:cxnLst/>
            <a:rect r="r" b="b" t="t" l="l"/>
            <a:pathLst>
              <a:path h="1423681" w="2124897">
                <a:moveTo>
                  <a:pt x="0" y="0"/>
                </a:moveTo>
                <a:lnTo>
                  <a:pt x="2124897" y="0"/>
                </a:lnTo>
                <a:lnTo>
                  <a:pt x="2124897" y="1423680"/>
                </a:lnTo>
                <a:lnTo>
                  <a:pt x="0" y="14236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328877" y="3546365"/>
            <a:ext cx="204942" cy="872092"/>
          </a:xfrm>
          <a:custGeom>
            <a:avLst/>
            <a:gdLst/>
            <a:ahLst/>
            <a:cxnLst/>
            <a:rect r="r" b="b" t="t" l="l"/>
            <a:pathLst>
              <a:path h="872092" w="204942">
                <a:moveTo>
                  <a:pt x="0" y="0"/>
                </a:moveTo>
                <a:lnTo>
                  <a:pt x="204941" y="0"/>
                </a:lnTo>
                <a:lnTo>
                  <a:pt x="204941" y="872092"/>
                </a:lnTo>
                <a:lnTo>
                  <a:pt x="0" y="8720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309447" y="4776532"/>
            <a:ext cx="853414" cy="733936"/>
          </a:xfrm>
          <a:custGeom>
            <a:avLst/>
            <a:gdLst/>
            <a:ahLst/>
            <a:cxnLst/>
            <a:rect r="r" b="b" t="t" l="l"/>
            <a:pathLst>
              <a:path h="733936" w="853414">
                <a:moveTo>
                  <a:pt x="0" y="0"/>
                </a:moveTo>
                <a:lnTo>
                  <a:pt x="853414" y="0"/>
                </a:lnTo>
                <a:lnTo>
                  <a:pt x="853414" y="733936"/>
                </a:lnTo>
                <a:lnTo>
                  <a:pt x="0" y="7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328877" y="5989534"/>
            <a:ext cx="644491" cy="810681"/>
          </a:xfrm>
          <a:custGeom>
            <a:avLst/>
            <a:gdLst/>
            <a:ahLst/>
            <a:cxnLst/>
            <a:rect r="r" b="b" t="t" l="l"/>
            <a:pathLst>
              <a:path h="810681" w="644491">
                <a:moveTo>
                  <a:pt x="0" y="0"/>
                </a:moveTo>
                <a:lnTo>
                  <a:pt x="644491" y="0"/>
                </a:lnTo>
                <a:lnTo>
                  <a:pt x="644491" y="810681"/>
                </a:lnTo>
                <a:lnTo>
                  <a:pt x="0" y="8106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622139" y="6250490"/>
            <a:ext cx="623471" cy="623471"/>
          </a:xfrm>
          <a:custGeom>
            <a:avLst/>
            <a:gdLst/>
            <a:ahLst/>
            <a:cxnLst/>
            <a:rect r="r" b="b" t="t" l="l"/>
            <a:pathLst>
              <a:path h="623471" w="623471">
                <a:moveTo>
                  <a:pt x="0" y="0"/>
                </a:moveTo>
                <a:lnTo>
                  <a:pt x="623471" y="0"/>
                </a:lnTo>
                <a:lnTo>
                  <a:pt x="623471" y="623471"/>
                </a:lnTo>
                <a:lnTo>
                  <a:pt x="0" y="62347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697413" y="6212192"/>
            <a:ext cx="368456" cy="350033"/>
          </a:xfrm>
          <a:custGeom>
            <a:avLst/>
            <a:gdLst/>
            <a:ahLst/>
            <a:cxnLst/>
            <a:rect r="r" b="b" t="t" l="l"/>
            <a:pathLst>
              <a:path h="350033" w="368456">
                <a:moveTo>
                  <a:pt x="0" y="0"/>
                </a:moveTo>
                <a:lnTo>
                  <a:pt x="368456" y="0"/>
                </a:lnTo>
                <a:lnTo>
                  <a:pt x="368456" y="350033"/>
                </a:lnTo>
                <a:lnTo>
                  <a:pt x="0" y="35003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5400000">
            <a:off x="14395518" y="4405169"/>
            <a:ext cx="484017" cy="349472"/>
            <a:chOff x="0" y="0"/>
            <a:chExt cx="1125725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5725" cy="812800"/>
            </a:xfrm>
            <a:custGeom>
              <a:avLst/>
              <a:gdLst/>
              <a:ahLst/>
              <a:cxnLst/>
              <a:rect r="r" b="b" t="t" l="l"/>
              <a:pathLst>
                <a:path h="812800" w="1125725">
                  <a:moveTo>
                    <a:pt x="1125725" y="406400"/>
                  </a:moveTo>
                  <a:lnTo>
                    <a:pt x="719325" y="0"/>
                  </a:lnTo>
                  <a:lnTo>
                    <a:pt x="71932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19325" y="609600"/>
                  </a:lnTo>
                  <a:lnTo>
                    <a:pt x="719325" y="812800"/>
                  </a:lnTo>
                  <a:lnTo>
                    <a:pt x="1125725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174625"/>
              <a:ext cx="1024125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032741" y="4062171"/>
            <a:ext cx="1577178" cy="3062482"/>
          </a:xfrm>
          <a:custGeom>
            <a:avLst/>
            <a:gdLst/>
            <a:ahLst/>
            <a:cxnLst/>
            <a:rect r="r" b="b" t="t" l="l"/>
            <a:pathLst>
              <a:path h="3062482" w="1577178">
                <a:moveTo>
                  <a:pt x="0" y="0"/>
                </a:moveTo>
                <a:lnTo>
                  <a:pt x="1577178" y="0"/>
                </a:lnTo>
                <a:lnTo>
                  <a:pt x="1577178" y="3062482"/>
                </a:lnTo>
                <a:lnTo>
                  <a:pt x="0" y="306248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824692">
            <a:off x="3361287" y="4220837"/>
            <a:ext cx="2449177" cy="2449177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2"/>
              <a:stretch>
                <a:fillRect l="-3890" t="0" r="-389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AutoShape 54" id="54"/>
          <p:cNvSpPr/>
          <p:nvPr/>
        </p:nvSpPr>
        <p:spPr>
          <a:xfrm flipV="true">
            <a:off x="2299347" y="4610781"/>
            <a:ext cx="1390134" cy="83464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5" id="55"/>
          <p:cNvSpPr/>
          <p:nvPr/>
        </p:nvSpPr>
        <p:spPr>
          <a:xfrm>
            <a:off x="2299347" y="5593412"/>
            <a:ext cx="1352402" cy="64399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6" id="56"/>
          <p:cNvGrpSpPr/>
          <p:nvPr/>
        </p:nvGrpSpPr>
        <p:grpSpPr>
          <a:xfrm rot="0">
            <a:off x="2202960" y="5411224"/>
            <a:ext cx="221095" cy="22109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2299347" y="4312304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6" y="0"/>
                </a:lnTo>
                <a:lnTo>
                  <a:pt x="1061686" y="1019220"/>
                </a:lnTo>
                <a:lnTo>
                  <a:pt x="0" y="101922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2197032" y="5031400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7" y="0"/>
                </a:lnTo>
                <a:lnTo>
                  <a:pt x="1061687" y="1019219"/>
                </a:lnTo>
                <a:lnTo>
                  <a:pt x="0" y="101921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821330" y="4392005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7" y="0"/>
                </a:lnTo>
                <a:lnTo>
                  <a:pt x="1061687" y="1019219"/>
                </a:lnTo>
                <a:lnTo>
                  <a:pt x="0" y="101921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true" rot="-4716017">
            <a:off x="3977560" y="4101461"/>
            <a:ext cx="618573" cy="600016"/>
          </a:xfrm>
          <a:custGeom>
            <a:avLst/>
            <a:gdLst/>
            <a:ahLst/>
            <a:cxnLst/>
            <a:rect r="r" b="b" t="t" l="l"/>
            <a:pathLst>
              <a:path h="600016" w="618573">
                <a:moveTo>
                  <a:pt x="0" y="600016"/>
                </a:moveTo>
                <a:lnTo>
                  <a:pt x="618573" y="600016"/>
                </a:lnTo>
                <a:lnTo>
                  <a:pt x="618573" y="0"/>
                </a:lnTo>
                <a:lnTo>
                  <a:pt x="0" y="0"/>
                </a:lnTo>
                <a:lnTo>
                  <a:pt x="0" y="600016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421182" y="2982486"/>
            <a:ext cx="4454675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Link OA-associated extracellular acidity with a proton-sensing receptor (GPR68).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-4716017">
            <a:off x="5186361" y="4521906"/>
            <a:ext cx="618573" cy="600016"/>
          </a:xfrm>
          <a:custGeom>
            <a:avLst/>
            <a:gdLst/>
            <a:ahLst/>
            <a:cxnLst/>
            <a:rect r="r" b="b" t="t" l="l"/>
            <a:pathLst>
              <a:path h="600016" w="618573">
                <a:moveTo>
                  <a:pt x="0" y="0"/>
                </a:moveTo>
                <a:lnTo>
                  <a:pt x="618573" y="0"/>
                </a:lnTo>
                <a:lnTo>
                  <a:pt x="618573" y="600016"/>
                </a:lnTo>
                <a:lnTo>
                  <a:pt x="0" y="6000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4111224" y="3529377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6" y="0"/>
                </a:lnTo>
                <a:lnTo>
                  <a:pt x="1061686" y="1019220"/>
                </a:lnTo>
                <a:lnTo>
                  <a:pt x="0" y="101922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961572" y="3941497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7" y="0"/>
                </a:lnTo>
                <a:lnTo>
                  <a:pt x="1061687" y="1019219"/>
                </a:lnTo>
                <a:lnTo>
                  <a:pt x="0" y="101921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585875" y="3642865"/>
            <a:ext cx="1061687" cy="1019219"/>
          </a:xfrm>
          <a:custGeom>
            <a:avLst/>
            <a:gdLst/>
            <a:ahLst/>
            <a:cxnLst/>
            <a:rect r="r" b="b" t="t" l="l"/>
            <a:pathLst>
              <a:path h="1019219" w="1061687">
                <a:moveTo>
                  <a:pt x="0" y="0"/>
                </a:moveTo>
                <a:lnTo>
                  <a:pt x="1061687" y="0"/>
                </a:lnTo>
                <a:lnTo>
                  <a:pt x="1061687" y="1019219"/>
                </a:lnTo>
                <a:lnTo>
                  <a:pt x="0" y="101921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-5400000">
            <a:off x="9595284" y="3121003"/>
            <a:ext cx="1313304" cy="1555795"/>
          </a:xfrm>
          <a:custGeom>
            <a:avLst/>
            <a:gdLst/>
            <a:ahLst/>
            <a:cxnLst/>
            <a:rect r="r" b="b" t="t" l="l"/>
            <a:pathLst>
              <a:path h="1555795" w="1313304">
                <a:moveTo>
                  <a:pt x="0" y="0"/>
                </a:moveTo>
                <a:lnTo>
                  <a:pt x="1313304" y="0"/>
                </a:lnTo>
                <a:lnTo>
                  <a:pt x="1313304" y="1555795"/>
                </a:lnTo>
                <a:lnTo>
                  <a:pt x="0" y="155579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310016" t="-66956" r="-7091" b="-31203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8907025" y="3941497"/>
            <a:ext cx="331074" cy="331074"/>
          </a:xfrm>
          <a:custGeom>
            <a:avLst/>
            <a:gdLst/>
            <a:ahLst/>
            <a:cxnLst/>
            <a:rect r="r" b="b" t="t" l="l"/>
            <a:pathLst>
              <a:path h="331074" w="331074">
                <a:moveTo>
                  <a:pt x="0" y="0"/>
                </a:moveTo>
                <a:lnTo>
                  <a:pt x="331075" y="0"/>
                </a:lnTo>
                <a:lnTo>
                  <a:pt x="331075" y="331074"/>
                </a:lnTo>
                <a:lnTo>
                  <a:pt x="0" y="33107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104931" y="981075"/>
            <a:ext cx="16171132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Innovation: More Than A Docking Exercise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6294956" y="1986452"/>
            <a:ext cx="5319545" cy="756121"/>
          </a:xfrm>
          <a:custGeom>
            <a:avLst/>
            <a:gdLst/>
            <a:ahLst/>
            <a:cxnLst/>
            <a:rect r="r" b="b" t="t" l="l"/>
            <a:pathLst>
              <a:path h="756121" w="5319545">
                <a:moveTo>
                  <a:pt x="0" y="0"/>
                </a:moveTo>
                <a:lnTo>
                  <a:pt x="5319546" y="0"/>
                </a:lnTo>
                <a:lnTo>
                  <a:pt x="5319546" y="756121"/>
                </a:lnTo>
                <a:lnTo>
                  <a:pt x="0" y="756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0" t="-45130" r="-30923" b="-143227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5850868" y="1725314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2" y="0"/>
                </a:lnTo>
                <a:lnTo>
                  <a:pt x="647572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6485456" y="2916382"/>
            <a:ext cx="4961203" cy="2529044"/>
            <a:chOff x="0" y="0"/>
            <a:chExt cx="1306654" cy="66608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06654" cy="666086"/>
            </a:xfrm>
            <a:custGeom>
              <a:avLst/>
              <a:gdLst/>
              <a:ahLst/>
              <a:cxnLst/>
              <a:rect r="r" b="b" t="t" l="l"/>
              <a:pathLst>
                <a:path h="666086" w="1306654">
                  <a:moveTo>
                    <a:pt x="0" y="0"/>
                  </a:moveTo>
                  <a:lnTo>
                    <a:pt x="1306654" y="0"/>
                  </a:lnTo>
                  <a:lnTo>
                    <a:pt x="1306654" y="666086"/>
                  </a:lnTo>
                  <a:lnTo>
                    <a:pt x="0" y="66608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38100"/>
              <a:ext cx="1306654" cy="62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633441" y="2164488"/>
            <a:ext cx="539874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 Computational Layers</a:t>
            </a:r>
          </a:p>
        </p:txBody>
      </p:sp>
      <p:grpSp>
        <p:nvGrpSpPr>
          <p:cNvPr name="Group 77" id="77"/>
          <p:cNvGrpSpPr/>
          <p:nvPr/>
        </p:nvGrpSpPr>
        <p:grpSpPr>
          <a:xfrm rot="5400000">
            <a:off x="8897826" y="5709615"/>
            <a:ext cx="349472" cy="349472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1843102" y="1994826"/>
            <a:ext cx="5416198" cy="756121"/>
          </a:xfrm>
          <a:custGeom>
            <a:avLst/>
            <a:gdLst/>
            <a:ahLst/>
            <a:cxnLst/>
            <a:rect r="r" b="b" t="t" l="l"/>
            <a:pathLst>
              <a:path h="756121" w="5416198">
                <a:moveTo>
                  <a:pt x="0" y="0"/>
                </a:moveTo>
                <a:lnTo>
                  <a:pt x="5416198" y="0"/>
                </a:lnTo>
                <a:lnTo>
                  <a:pt x="5416198" y="756121"/>
                </a:lnTo>
                <a:lnTo>
                  <a:pt x="0" y="756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99" t="-45130" r="-28587" b="-143227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1446660" y="175679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2" y="0"/>
                </a:lnTo>
                <a:lnTo>
                  <a:pt x="647572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2" id="82"/>
          <p:cNvSpPr/>
          <p:nvPr/>
        </p:nvSpPr>
        <p:spPr>
          <a:xfrm flipH="false" flipV="false" rot="0">
            <a:off x="12633683" y="3544711"/>
            <a:ext cx="204942" cy="872092"/>
          </a:xfrm>
          <a:custGeom>
            <a:avLst/>
            <a:gdLst/>
            <a:ahLst/>
            <a:cxnLst/>
            <a:rect r="r" b="b" t="t" l="l"/>
            <a:pathLst>
              <a:path h="872092" w="204942">
                <a:moveTo>
                  <a:pt x="0" y="0"/>
                </a:moveTo>
                <a:lnTo>
                  <a:pt x="204941" y="0"/>
                </a:lnTo>
                <a:lnTo>
                  <a:pt x="204941" y="872092"/>
                </a:lnTo>
                <a:lnTo>
                  <a:pt x="0" y="8720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33874" y="3546365"/>
            <a:ext cx="204942" cy="872092"/>
          </a:xfrm>
          <a:custGeom>
            <a:avLst/>
            <a:gdLst/>
            <a:ahLst/>
            <a:cxnLst/>
            <a:rect r="r" b="b" t="t" l="l"/>
            <a:pathLst>
              <a:path h="872092" w="204942">
                <a:moveTo>
                  <a:pt x="0" y="0"/>
                </a:moveTo>
                <a:lnTo>
                  <a:pt x="204942" y="0"/>
                </a:lnTo>
                <a:lnTo>
                  <a:pt x="204942" y="872092"/>
                </a:lnTo>
                <a:lnTo>
                  <a:pt x="0" y="8720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5400000">
            <a:off x="14395518" y="5608282"/>
            <a:ext cx="484017" cy="349472"/>
            <a:chOff x="0" y="0"/>
            <a:chExt cx="1125725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25725" cy="812800"/>
            </a:xfrm>
            <a:custGeom>
              <a:avLst/>
              <a:gdLst/>
              <a:ahLst/>
              <a:cxnLst/>
              <a:rect r="r" b="b" t="t" l="l"/>
              <a:pathLst>
                <a:path h="812800" w="1125725">
                  <a:moveTo>
                    <a:pt x="1125725" y="406400"/>
                  </a:moveTo>
                  <a:lnTo>
                    <a:pt x="719325" y="0"/>
                  </a:lnTo>
                  <a:lnTo>
                    <a:pt x="719325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19325" y="609600"/>
                  </a:lnTo>
                  <a:lnTo>
                    <a:pt x="719325" y="812800"/>
                  </a:lnTo>
                  <a:lnTo>
                    <a:pt x="1125725" y="40640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174625"/>
              <a:ext cx="1024125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349013" y="7789494"/>
            <a:ext cx="944634" cy="1049593"/>
          </a:xfrm>
          <a:custGeom>
            <a:avLst/>
            <a:gdLst/>
            <a:ahLst/>
            <a:cxnLst/>
            <a:rect r="r" b="b" t="t" l="l"/>
            <a:pathLst>
              <a:path h="1049593" w="944634">
                <a:moveTo>
                  <a:pt x="0" y="0"/>
                </a:moveTo>
                <a:lnTo>
                  <a:pt x="944634" y="0"/>
                </a:lnTo>
                <a:lnTo>
                  <a:pt x="944634" y="1049593"/>
                </a:lnTo>
                <a:lnTo>
                  <a:pt x="0" y="104959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2437685" y="7902175"/>
            <a:ext cx="1849161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Success Indicator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21182" y="2164488"/>
            <a:ext cx="442968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Disease-Informed Target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995861" y="6195495"/>
            <a:ext cx="415340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 </a:t>
            </a:r>
            <a:r>
              <a:rPr lang="en-US" b="true" sz="2399">
                <a:solidFill>
                  <a:srgbClr val="FF75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complementary evidence</a:t>
            </a: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before purchase.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145191" y="2982486"/>
            <a:ext cx="208861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Hits must pass: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676693" y="7878998"/>
            <a:ext cx="1317030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 GPR68 Response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5465758" y="8011182"/>
            <a:ext cx="163482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Cartilage Protection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728280" y="4706716"/>
            <a:ext cx="2034473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Ligand-Based ML Prioritization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238100" y="4706716"/>
            <a:ext cx="1987900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Structural-Based GNINA Docking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527042" y="3698895"/>
            <a:ext cx="328504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 Assay</a:t>
            </a:r>
          </a:p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(Receptor-Level Testing)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029636" y="4910547"/>
            <a:ext cx="236409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OA Chondrocyte Validation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3156338" y="6113359"/>
            <a:ext cx="385849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 Knockdown</a:t>
            </a:r>
          </a:p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(Target-Dependence Testing)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697413" y="2164488"/>
            <a:ext cx="4492188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Closure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63771"/>
            <a:ext cx="5098720" cy="3036854"/>
            <a:chOff x="0" y="0"/>
            <a:chExt cx="1919172" cy="1143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9172" cy="1143080"/>
            </a:xfrm>
            <a:custGeom>
              <a:avLst/>
              <a:gdLst/>
              <a:ahLst/>
              <a:cxnLst/>
              <a:rect r="r" b="b" t="t" l="l"/>
              <a:pathLst>
                <a:path h="1143080" w="1919172">
                  <a:moveTo>
                    <a:pt x="0" y="0"/>
                  </a:moveTo>
                  <a:lnTo>
                    <a:pt x="1919172" y="0"/>
                  </a:lnTo>
                  <a:lnTo>
                    <a:pt x="1919172" y="1143080"/>
                  </a:lnTo>
                  <a:lnTo>
                    <a:pt x="0" y="1143080"/>
                  </a:lnTo>
                  <a:close/>
                </a:path>
              </a:pathLst>
            </a:custGeom>
            <a:solidFill>
              <a:srgbClr val="8F1EAE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1919172" cy="106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94640" y="1963771"/>
            <a:ext cx="5098720" cy="3036854"/>
            <a:chOff x="0" y="0"/>
            <a:chExt cx="1919172" cy="1143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9172" cy="1143080"/>
            </a:xfrm>
            <a:custGeom>
              <a:avLst/>
              <a:gdLst/>
              <a:ahLst/>
              <a:cxnLst/>
              <a:rect r="r" b="b" t="t" l="l"/>
              <a:pathLst>
                <a:path h="1143080" w="1919172">
                  <a:moveTo>
                    <a:pt x="0" y="0"/>
                  </a:moveTo>
                  <a:lnTo>
                    <a:pt x="1919172" y="0"/>
                  </a:lnTo>
                  <a:lnTo>
                    <a:pt x="1919172" y="1143080"/>
                  </a:lnTo>
                  <a:lnTo>
                    <a:pt x="0" y="1143080"/>
                  </a:ln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1919172" cy="106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60580" y="1963771"/>
            <a:ext cx="5098720" cy="3036854"/>
            <a:chOff x="0" y="0"/>
            <a:chExt cx="1919172" cy="1143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9172" cy="1143080"/>
            </a:xfrm>
            <a:custGeom>
              <a:avLst/>
              <a:gdLst/>
              <a:ahLst/>
              <a:cxnLst/>
              <a:rect r="r" b="b" t="t" l="l"/>
              <a:pathLst>
                <a:path h="1143080" w="1919172">
                  <a:moveTo>
                    <a:pt x="0" y="0"/>
                  </a:moveTo>
                  <a:lnTo>
                    <a:pt x="1919172" y="0"/>
                  </a:lnTo>
                  <a:lnTo>
                    <a:pt x="1919172" y="1143080"/>
                  </a:lnTo>
                  <a:lnTo>
                    <a:pt x="0" y="1143080"/>
                  </a:lnTo>
                  <a:close/>
                </a:path>
              </a:pathLst>
            </a:custGeom>
            <a:solidFill>
              <a:srgbClr val="4CA626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1919172" cy="106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143500"/>
            <a:ext cx="5098720" cy="2592742"/>
            <a:chOff x="0" y="0"/>
            <a:chExt cx="1919172" cy="9759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9172" cy="975915"/>
            </a:xfrm>
            <a:custGeom>
              <a:avLst/>
              <a:gdLst/>
              <a:ahLst/>
              <a:cxnLst/>
              <a:rect r="r" b="b" t="t" l="l"/>
              <a:pathLst>
                <a:path h="975915" w="1919172">
                  <a:moveTo>
                    <a:pt x="0" y="0"/>
                  </a:moveTo>
                  <a:lnTo>
                    <a:pt x="1919172" y="0"/>
                  </a:lnTo>
                  <a:lnTo>
                    <a:pt x="1919172" y="975915"/>
                  </a:lnTo>
                  <a:lnTo>
                    <a:pt x="0" y="975915"/>
                  </a:lnTo>
                  <a:close/>
                </a:path>
              </a:pathLst>
            </a:custGeom>
            <a:solidFill>
              <a:srgbClr val="FFA51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919172" cy="89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60580" y="5143500"/>
            <a:ext cx="5098720" cy="2592742"/>
            <a:chOff x="0" y="0"/>
            <a:chExt cx="1919172" cy="9759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9172" cy="975915"/>
            </a:xfrm>
            <a:custGeom>
              <a:avLst/>
              <a:gdLst/>
              <a:ahLst/>
              <a:cxnLst/>
              <a:rect r="r" b="b" t="t" l="l"/>
              <a:pathLst>
                <a:path h="975915" w="1919172">
                  <a:moveTo>
                    <a:pt x="0" y="0"/>
                  </a:moveTo>
                  <a:lnTo>
                    <a:pt x="1919172" y="0"/>
                  </a:lnTo>
                  <a:lnTo>
                    <a:pt x="1919172" y="975915"/>
                  </a:lnTo>
                  <a:lnTo>
                    <a:pt x="0" y="975915"/>
                  </a:lnTo>
                  <a:close/>
                </a:path>
              </a:pathLst>
            </a:custGeom>
            <a:solidFill>
              <a:srgbClr val="5E17EB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1919172" cy="89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1963771"/>
            <a:ext cx="5098720" cy="806791"/>
          </a:xfrm>
          <a:custGeom>
            <a:avLst/>
            <a:gdLst/>
            <a:ahLst/>
            <a:cxnLst/>
            <a:rect r="r" b="b" t="t" l="l"/>
            <a:pathLst>
              <a:path h="806791" w="5098720">
                <a:moveTo>
                  <a:pt x="0" y="0"/>
                </a:moveTo>
                <a:lnTo>
                  <a:pt x="5098720" y="0"/>
                </a:lnTo>
                <a:lnTo>
                  <a:pt x="5098720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10" t="-36015" r="-36593" b="-13423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94887" y="1963771"/>
            <a:ext cx="5098720" cy="806791"/>
          </a:xfrm>
          <a:custGeom>
            <a:avLst/>
            <a:gdLst/>
            <a:ahLst/>
            <a:cxnLst/>
            <a:rect r="r" b="b" t="t" l="l"/>
            <a:pathLst>
              <a:path h="806791" w="5098720">
                <a:moveTo>
                  <a:pt x="0" y="0"/>
                </a:moveTo>
                <a:lnTo>
                  <a:pt x="5098720" y="0"/>
                </a:lnTo>
                <a:lnTo>
                  <a:pt x="5098720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10" t="-36015" r="-36593" b="-13423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160580" y="1963771"/>
            <a:ext cx="5098720" cy="806791"/>
          </a:xfrm>
          <a:custGeom>
            <a:avLst/>
            <a:gdLst/>
            <a:ahLst/>
            <a:cxnLst/>
            <a:rect r="r" b="b" t="t" l="l"/>
            <a:pathLst>
              <a:path h="806791" w="5098720">
                <a:moveTo>
                  <a:pt x="0" y="0"/>
                </a:moveTo>
                <a:lnTo>
                  <a:pt x="5098720" y="0"/>
                </a:lnTo>
                <a:lnTo>
                  <a:pt x="5098720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0" t="-36015" r="-36593" b="-134232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5143500"/>
            <a:ext cx="5098720" cy="806791"/>
          </a:xfrm>
          <a:custGeom>
            <a:avLst/>
            <a:gdLst/>
            <a:ahLst/>
            <a:cxnLst/>
            <a:rect r="r" b="b" t="t" l="l"/>
            <a:pathLst>
              <a:path h="806791" w="5098720">
                <a:moveTo>
                  <a:pt x="0" y="0"/>
                </a:moveTo>
                <a:lnTo>
                  <a:pt x="5098720" y="0"/>
                </a:lnTo>
                <a:lnTo>
                  <a:pt x="5098720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10" t="-36015" r="-36593" b="-134232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61074" y="5143500"/>
            <a:ext cx="5098720" cy="806791"/>
          </a:xfrm>
          <a:custGeom>
            <a:avLst/>
            <a:gdLst/>
            <a:ahLst/>
            <a:cxnLst/>
            <a:rect r="r" b="b" t="t" l="l"/>
            <a:pathLst>
              <a:path h="806791" w="5098720">
                <a:moveTo>
                  <a:pt x="0" y="0"/>
                </a:moveTo>
                <a:lnTo>
                  <a:pt x="5098721" y="0"/>
                </a:lnTo>
                <a:lnTo>
                  <a:pt x="5098721" y="806791"/>
                </a:lnTo>
                <a:lnTo>
                  <a:pt x="0" y="806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10" t="-36015" r="-36593" b="-134232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9195" y="7879117"/>
            <a:ext cx="16230105" cy="1379183"/>
            <a:chOff x="0" y="0"/>
            <a:chExt cx="6108964" cy="5191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8964" cy="519165"/>
            </a:xfrm>
            <a:custGeom>
              <a:avLst/>
              <a:gdLst/>
              <a:ahLst/>
              <a:cxnLst/>
              <a:rect r="r" b="b" t="t" l="l"/>
              <a:pathLst>
                <a:path h="519165" w="6108964">
                  <a:moveTo>
                    <a:pt x="6108964" y="9540"/>
                  </a:moveTo>
                  <a:lnTo>
                    <a:pt x="6108964" y="509624"/>
                  </a:lnTo>
                  <a:cubicBezTo>
                    <a:pt x="6108964" y="514893"/>
                    <a:pt x="6104693" y="519165"/>
                    <a:pt x="6099424" y="519165"/>
                  </a:cubicBezTo>
                  <a:lnTo>
                    <a:pt x="9540" y="519165"/>
                  </a:lnTo>
                  <a:cubicBezTo>
                    <a:pt x="7010" y="519165"/>
                    <a:pt x="4583" y="518159"/>
                    <a:pt x="2794" y="516370"/>
                  </a:cubicBezTo>
                  <a:cubicBezTo>
                    <a:pt x="1005" y="514581"/>
                    <a:pt x="0" y="512155"/>
                    <a:pt x="0" y="509624"/>
                  </a:cubicBezTo>
                  <a:lnTo>
                    <a:pt x="0" y="9540"/>
                  </a:lnTo>
                  <a:cubicBezTo>
                    <a:pt x="0" y="7010"/>
                    <a:pt x="1005" y="4583"/>
                    <a:pt x="2794" y="2794"/>
                  </a:cubicBezTo>
                  <a:cubicBezTo>
                    <a:pt x="4583" y="1005"/>
                    <a:pt x="7010" y="0"/>
                    <a:pt x="9540" y="0"/>
                  </a:cubicBezTo>
                  <a:lnTo>
                    <a:pt x="6099424" y="0"/>
                  </a:lnTo>
                  <a:cubicBezTo>
                    <a:pt x="6101954" y="0"/>
                    <a:pt x="6104381" y="1005"/>
                    <a:pt x="6106170" y="2794"/>
                  </a:cubicBezTo>
                  <a:cubicBezTo>
                    <a:pt x="6107959" y="4583"/>
                    <a:pt x="6108964" y="7010"/>
                    <a:pt x="6108964" y="9540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76200"/>
              <a:ext cx="6108964" cy="442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94872" y="204338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882770" y="204338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446082" y="204338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4872" y="5223109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3"/>
                </a:lnTo>
                <a:lnTo>
                  <a:pt x="0" y="6475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46082" y="5223109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3" y="0"/>
                </a:lnTo>
                <a:lnTo>
                  <a:pt x="647573" y="647573"/>
                </a:lnTo>
                <a:lnTo>
                  <a:pt x="0" y="6475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 flipV="true">
            <a:off x="6146470" y="7973060"/>
            <a:ext cx="0" cy="1285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7317556" y="5254677"/>
            <a:ext cx="3652887" cy="2435258"/>
          </a:xfrm>
          <a:custGeom>
            <a:avLst/>
            <a:gdLst/>
            <a:ahLst/>
            <a:cxnLst/>
            <a:rect r="r" b="b" t="t" l="l"/>
            <a:pathLst>
              <a:path h="2435258" w="3652887">
                <a:moveTo>
                  <a:pt x="0" y="0"/>
                </a:moveTo>
                <a:lnTo>
                  <a:pt x="3652888" y="0"/>
                </a:lnTo>
                <a:lnTo>
                  <a:pt x="3652888" y="2435258"/>
                </a:lnTo>
                <a:lnTo>
                  <a:pt x="0" y="24352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193714" y="3332821"/>
            <a:ext cx="2388203" cy="1432119"/>
            <a:chOff x="0" y="0"/>
            <a:chExt cx="628992" cy="377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28992" cy="377184"/>
            </a:xfrm>
            <a:custGeom>
              <a:avLst/>
              <a:gdLst/>
              <a:ahLst/>
              <a:cxnLst/>
              <a:rect r="r" b="b" t="t" l="l"/>
              <a:pathLst>
                <a:path h="377184" w="628992">
                  <a:moveTo>
                    <a:pt x="0" y="0"/>
                  </a:moveTo>
                  <a:lnTo>
                    <a:pt x="628992" y="0"/>
                  </a:lnTo>
                  <a:lnTo>
                    <a:pt x="628992" y="377184"/>
                  </a:lnTo>
                  <a:lnTo>
                    <a:pt x="0" y="37718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38100"/>
              <a:ext cx="628992" cy="339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19513" y="3336783"/>
            <a:ext cx="2388203" cy="1432119"/>
            <a:chOff x="0" y="0"/>
            <a:chExt cx="628992" cy="3771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8992" cy="377184"/>
            </a:xfrm>
            <a:custGeom>
              <a:avLst/>
              <a:gdLst/>
              <a:ahLst/>
              <a:cxnLst/>
              <a:rect r="r" b="b" t="t" l="l"/>
              <a:pathLst>
                <a:path h="377184" w="628992">
                  <a:moveTo>
                    <a:pt x="0" y="0"/>
                  </a:moveTo>
                  <a:lnTo>
                    <a:pt x="628992" y="0"/>
                  </a:lnTo>
                  <a:lnTo>
                    <a:pt x="628992" y="377184"/>
                  </a:lnTo>
                  <a:lnTo>
                    <a:pt x="0" y="37718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38100"/>
              <a:ext cx="628992" cy="339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294872" y="3409043"/>
            <a:ext cx="2228794" cy="861231"/>
          </a:xfrm>
          <a:custGeom>
            <a:avLst/>
            <a:gdLst/>
            <a:ahLst/>
            <a:cxnLst/>
            <a:rect r="r" b="b" t="t" l="l"/>
            <a:pathLst>
              <a:path h="861231" w="2228794">
                <a:moveTo>
                  <a:pt x="0" y="0"/>
                </a:moveTo>
                <a:lnTo>
                  <a:pt x="2228794" y="0"/>
                </a:lnTo>
                <a:lnTo>
                  <a:pt x="2228794" y="861231"/>
                </a:lnTo>
                <a:lnTo>
                  <a:pt x="0" y="86123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17605" r="0" b="-1179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695360" y="3448848"/>
            <a:ext cx="2076701" cy="781621"/>
          </a:xfrm>
          <a:custGeom>
            <a:avLst/>
            <a:gdLst/>
            <a:ahLst/>
            <a:cxnLst/>
            <a:rect r="r" b="b" t="t" l="l"/>
            <a:pathLst>
              <a:path h="781621" w="2076701">
                <a:moveTo>
                  <a:pt x="0" y="0"/>
                </a:moveTo>
                <a:lnTo>
                  <a:pt x="2076701" y="0"/>
                </a:lnTo>
                <a:lnTo>
                  <a:pt x="2076701" y="781621"/>
                </a:lnTo>
                <a:lnTo>
                  <a:pt x="0" y="7816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22829" r="0" b="-1001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434358" y="2770562"/>
            <a:ext cx="2259249" cy="2230063"/>
          </a:xfrm>
          <a:custGeom>
            <a:avLst/>
            <a:gdLst/>
            <a:ahLst/>
            <a:cxnLst/>
            <a:rect r="r" b="b" t="t" l="l"/>
            <a:pathLst>
              <a:path h="2230063" w="2259249">
                <a:moveTo>
                  <a:pt x="0" y="0"/>
                </a:moveTo>
                <a:lnTo>
                  <a:pt x="2259249" y="0"/>
                </a:lnTo>
                <a:lnTo>
                  <a:pt x="2259249" y="2230063"/>
                </a:lnTo>
                <a:lnTo>
                  <a:pt x="0" y="22300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-4419" b="-4199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511100" y="5981897"/>
            <a:ext cx="2275046" cy="1683674"/>
          </a:xfrm>
          <a:custGeom>
            <a:avLst/>
            <a:gdLst/>
            <a:ahLst/>
            <a:cxnLst/>
            <a:rect r="r" b="b" t="t" l="l"/>
            <a:pathLst>
              <a:path h="1683674" w="2275046">
                <a:moveTo>
                  <a:pt x="0" y="0"/>
                </a:moveTo>
                <a:lnTo>
                  <a:pt x="2275046" y="0"/>
                </a:lnTo>
                <a:lnTo>
                  <a:pt x="2275046" y="1683673"/>
                </a:lnTo>
                <a:lnTo>
                  <a:pt x="0" y="168367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20178" t="-21861" r="-25552" b="-941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523666" y="5958457"/>
            <a:ext cx="2558917" cy="1739644"/>
          </a:xfrm>
          <a:custGeom>
            <a:avLst/>
            <a:gdLst/>
            <a:ahLst/>
            <a:cxnLst/>
            <a:rect r="r" b="b" t="t" l="l"/>
            <a:pathLst>
              <a:path h="1739644" w="2558917">
                <a:moveTo>
                  <a:pt x="0" y="0"/>
                </a:moveTo>
                <a:lnTo>
                  <a:pt x="2558917" y="0"/>
                </a:lnTo>
                <a:lnTo>
                  <a:pt x="2558917" y="1739644"/>
                </a:lnTo>
                <a:lnTo>
                  <a:pt x="0" y="173964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987" t="0" r="-987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003616" y="2910897"/>
            <a:ext cx="2255684" cy="1858006"/>
          </a:xfrm>
          <a:custGeom>
            <a:avLst/>
            <a:gdLst/>
            <a:ahLst/>
            <a:cxnLst/>
            <a:rect r="r" b="b" t="t" l="l"/>
            <a:pathLst>
              <a:path h="1858006" w="2255684">
                <a:moveTo>
                  <a:pt x="0" y="0"/>
                </a:moveTo>
                <a:lnTo>
                  <a:pt x="2255684" y="0"/>
                </a:lnTo>
                <a:lnTo>
                  <a:pt x="2255684" y="1858005"/>
                </a:lnTo>
                <a:lnTo>
                  <a:pt x="0" y="18580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-23554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29195" y="999842"/>
            <a:ext cx="15423428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Building A Reproducible Computational Foundation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03112" y="2213644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</a:t>
            </a:r>
            <a:r>
              <a:rPr lang="en-US" b="true" sz="2799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nce Ligands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768760" y="2193494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Molecular Libr</a:t>
            </a:r>
            <a:r>
              <a:rPr lang="en-US" b="true" sz="2799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341305" y="2213644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GPR68 Structu</a:t>
            </a:r>
            <a:r>
              <a:rPr lang="en-US" b="true" sz="2799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191841" y="5373223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Binding po</a:t>
            </a:r>
            <a:r>
              <a:rPr lang="en-US" b="true" sz="2799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ckets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341305" y="5373223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FEFE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GNINA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56118" y="2936127"/>
            <a:ext cx="4851598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Known GPR68 modulators collected.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22745" y="3960064"/>
            <a:ext cx="415340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molecular structures successfully parsed.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22745" y="2993277"/>
            <a:ext cx="2962691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10,240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512757" y="3404366"/>
            <a:ext cx="2905249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GPR68 structure from PDB 8Z68 isolated.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94872" y="6388441"/>
            <a:ext cx="2357151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P2Rank used to identify candidate regions.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512757" y="6260337"/>
            <a:ext cx="257637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Docking environment technically validated.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3831" y="8577580"/>
            <a:ext cx="484388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10,240 loaded • 0 failed • 0 duplicate canonical SMILES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741355" y="8577580"/>
            <a:ext cx="484388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Mean MW 366.6 • LogP 2.59 • TPSA 78.9 Å²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287998" y="8577580"/>
            <a:ext cx="484388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Clean inputs </a:t>
            </a:r>
            <a:r>
              <a:rPr lang="en-US" b="true" sz="2399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 avoidable errors</a:t>
            </a: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before modelling and screening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822531" y="4365829"/>
            <a:ext cx="1173477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Ogerin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038936" y="4365829"/>
            <a:ext cx="1512776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MS48107</a:t>
            </a:r>
          </a:p>
        </p:txBody>
      </p:sp>
      <p:sp>
        <p:nvSpPr>
          <p:cNvPr name="AutoShape 62" id="62"/>
          <p:cNvSpPr/>
          <p:nvPr/>
        </p:nvSpPr>
        <p:spPr>
          <a:xfrm flipH="true" flipV="true">
            <a:off x="6127420" y="5594742"/>
            <a:ext cx="1402922" cy="1074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3" id="63"/>
          <p:cNvSpPr/>
          <p:nvPr/>
        </p:nvSpPr>
        <p:spPr>
          <a:xfrm flipH="true" flipV="true">
            <a:off x="6127420" y="4709410"/>
            <a:ext cx="1629756" cy="12490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4" id="64"/>
          <p:cNvSpPr/>
          <p:nvPr/>
        </p:nvSpPr>
        <p:spPr>
          <a:xfrm flipV="true">
            <a:off x="10691896" y="5546896"/>
            <a:ext cx="1488229" cy="11178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 flipV="true">
            <a:off x="10476587" y="4709410"/>
            <a:ext cx="1683993" cy="12572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9144000" y="5000625"/>
            <a:ext cx="3580" cy="3119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7" id="67"/>
          <p:cNvSpPr/>
          <p:nvPr/>
        </p:nvSpPr>
        <p:spPr>
          <a:xfrm flipH="false" flipV="false" rot="0">
            <a:off x="1029195" y="7879117"/>
            <a:ext cx="16230600" cy="638175"/>
          </a:xfrm>
          <a:custGeom>
            <a:avLst/>
            <a:gdLst/>
            <a:ahLst/>
            <a:cxnLst/>
            <a:rect r="r" b="b" t="t" l="l"/>
            <a:pathLst>
              <a:path h="638175" w="16230600">
                <a:moveTo>
                  <a:pt x="0" y="0"/>
                </a:moveTo>
                <a:lnTo>
                  <a:pt x="16230600" y="0"/>
                </a:lnTo>
                <a:lnTo>
                  <a:pt x="16230600" y="638175"/>
                </a:lnTo>
                <a:lnTo>
                  <a:pt x="0" y="6381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2643" t="-191135" r="0" b="-50507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596398" y="8036666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RDKit Quality Control</a:t>
            </a:r>
          </a:p>
        </p:txBody>
      </p:sp>
      <p:sp>
        <p:nvSpPr>
          <p:cNvPr name="AutoShape 69" id="69"/>
          <p:cNvSpPr/>
          <p:nvPr/>
        </p:nvSpPr>
        <p:spPr>
          <a:xfrm flipV="true">
            <a:off x="6146470" y="7879117"/>
            <a:ext cx="0" cy="137918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7086596" y="8036666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Chemical Space</a:t>
            </a:r>
          </a:p>
        </p:txBody>
      </p:sp>
      <p:sp>
        <p:nvSpPr>
          <p:cNvPr name="AutoShape 71" id="71"/>
          <p:cNvSpPr/>
          <p:nvPr/>
        </p:nvSpPr>
        <p:spPr>
          <a:xfrm flipV="true">
            <a:off x="12161074" y="7879117"/>
            <a:ext cx="0" cy="133887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2" id="72"/>
          <p:cNvSpPr txBox="true"/>
          <p:nvPr/>
        </p:nvSpPr>
        <p:spPr>
          <a:xfrm rot="0">
            <a:off x="12633733" y="8036666"/>
            <a:ext cx="415340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Matters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29515" y="2738500"/>
            <a:ext cx="7929785" cy="4742026"/>
            <a:chOff x="0" y="0"/>
            <a:chExt cx="2984748" cy="17850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84748" cy="1785037"/>
            </a:xfrm>
            <a:custGeom>
              <a:avLst/>
              <a:gdLst/>
              <a:ahLst/>
              <a:cxnLst/>
              <a:rect r="r" b="b" t="t" l="l"/>
              <a:pathLst>
                <a:path h="1785037" w="2984748">
                  <a:moveTo>
                    <a:pt x="2984748" y="19526"/>
                  </a:moveTo>
                  <a:lnTo>
                    <a:pt x="2984748" y="1765510"/>
                  </a:lnTo>
                  <a:cubicBezTo>
                    <a:pt x="2984748" y="1770689"/>
                    <a:pt x="2982691" y="1775656"/>
                    <a:pt x="2979029" y="1779318"/>
                  </a:cubicBezTo>
                  <a:cubicBezTo>
                    <a:pt x="2975367" y="1782979"/>
                    <a:pt x="2970400" y="1785037"/>
                    <a:pt x="2965222" y="1785037"/>
                  </a:cubicBezTo>
                  <a:lnTo>
                    <a:pt x="19526" y="1785037"/>
                  </a:lnTo>
                  <a:cubicBezTo>
                    <a:pt x="14348" y="1785037"/>
                    <a:pt x="9381" y="1782979"/>
                    <a:pt x="5719" y="1779318"/>
                  </a:cubicBezTo>
                  <a:cubicBezTo>
                    <a:pt x="2057" y="1775656"/>
                    <a:pt x="0" y="1770689"/>
                    <a:pt x="0" y="1765510"/>
                  </a:cubicBezTo>
                  <a:lnTo>
                    <a:pt x="0" y="19526"/>
                  </a:lnTo>
                  <a:cubicBezTo>
                    <a:pt x="0" y="14348"/>
                    <a:pt x="2057" y="9381"/>
                    <a:pt x="5719" y="5719"/>
                  </a:cubicBezTo>
                  <a:cubicBezTo>
                    <a:pt x="9381" y="2057"/>
                    <a:pt x="14348" y="0"/>
                    <a:pt x="19526" y="0"/>
                  </a:cubicBezTo>
                  <a:lnTo>
                    <a:pt x="2965222" y="0"/>
                  </a:lnTo>
                  <a:cubicBezTo>
                    <a:pt x="2970400" y="0"/>
                    <a:pt x="2975367" y="2057"/>
                    <a:pt x="2979029" y="5719"/>
                  </a:cubicBezTo>
                  <a:cubicBezTo>
                    <a:pt x="2982691" y="9381"/>
                    <a:pt x="2984748" y="14348"/>
                    <a:pt x="2984748" y="19526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2984748" cy="1708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757795"/>
            <a:ext cx="7950398" cy="4722732"/>
            <a:chOff x="0" y="0"/>
            <a:chExt cx="2992507" cy="1777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92507" cy="1777774"/>
            </a:xfrm>
            <a:custGeom>
              <a:avLst/>
              <a:gdLst/>
              <a:ahLst/>
              <a:cxnLst/>
              <a:rect r="r" b="b" t="t" l="l"/>
              <a:pathLst>
                <a:path h="1777774" w="2992507">
                  <a:moveTo>
                    <a:pt x="2992507" y="19476"/>
                  </a:moveTo>
                  <a:lnTo>
                    <a:pt x="2992507" y="1758298"/>
                  </a:lnTo>
                  <a:cubicBezTo>
                    <a:pt x="2992507" y="1769054"/>
                    <a:pt x="2983787" y="1777774"/>
                    <a:pt x="2973031" y="1777774"/>
                  </a:cubicBezTo>
                  <a:lnTo>
                    <a:pt x="19476" y="1777774"/>
                  </a:lnTo>
                  <a:cubicBezTo>
                    <a:pt x="14310" y="1777774"/>
                    <a:pt x="9357" y="1775722"/>
                    <a:pt x="5704" y="1772069"/>
                  </a:cubicBezTo>
                  <a:cubicBezTo>
                    <a:pt x="2052" y="1768417"/>
                    <a:pt x="0" y="1763463"/>
                    <a:pt x="0" y="1758298"/>
                  </a:cubicBezTo>
                  <a:lnTo>
                    <a:pt x="0" y="19476"/>
                  </a:lnTo>
                  <a:cubicBezTo>
                    <a:pt x="0" y="14310"/>
                    <a:pt x="2052" y="9357"/>
                    <a:pt x="5704" y="5704"/>
                  </a:cubicBezTo>
                  <a:cubicBezTo>
                    <a:pt x="9357" y="2052"/>
                    <a:pt x="14310" y="0"/>
                    <a:pt x="19476" y="0"/>
                  </a:cubicBezTo>
                  <a:lnTo>
                    <a:pt x="2973031" y="0"/>
                  </a:lnTo>
                  <a:cubicBezTo>
                    <a:pt x="2978196" y="0"/>
                    <a:pt x="2983150" y="2052"/>
                    <a:pt x="2986802" y="5704"/>
                  </a:cubicBezTo>
                  <a:cubicBezTo>
                    <a:pt x="2990455" y="9357"/>
                    <a:pt x="2992507" y="14310"/>
                    <a:pt x="2992507" y="19476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992507" cy="170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884025"/>
            <a:ext cx="7950398" cy="1374275"/>
            <a:chOff x="0" y="0"/>
            <a:chExt cx="2992507" cy="5173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92507" cy="517317"/>
            </a:xfrm>
            <a:custGeom>
              <a:avLst/>
              <a:gdLst/>
              <a:ahLst/>
              <a:cxnLst/>
              <a:rect r="r" b="b" t="t" l="l"/>
              <a:pathLst>
                <a:path h="517317" w="2992507">
                  <a:moveTo>
                    <a:pt x="2992507" y="19476"/>
                  </a:moveTo>
                  <a:lnTo>
                    <a:pt x="2992507" y="497842"/>
                  </a:lnTo>
                  <a:cubicBezTo>
                    <a:pt x="2992507" y="503007"/>
                    <a:pt x="2990455" y="507961"/>
                    <a:pt x="2986802" y="511613"/>
                  </a:cubicBezTo>
                  <a:cubicBezTo>
                    <a:pt x="2983150" y="515265"/>
                    <a:pt x="2978196" y="517317"/>
                    <a:pt x="2973031" y="517317"/>
                  </a:cubicBezTo>
                  <a:lnTo>
                    <a:pt x="19476" y="517317"/>
                  </a:lnTo>
                  <a:cubicBezTo>
                    <a:pt x="14310" y="517317"/>
                    <a:pt x="9357" y="515265"/>
                    <a:pt x="5704" y="511613"/>
                  </a:cubicBezTo>
                  <a:cubicBezTo>
                    <a:pt x="2052" y="507961"/>
                    <a:pt x="0" y="503007"/>
                    <a:pt x="0" y="497842"/>
                  </a:cubicBezTo>
                  <a:lnTo>
                    <a:pt x="0" y="19476"/>
                  </a:lnTo>
                  <a:cubicBezTo>
                    <a:pt x="0" y="14310"/>
                    <a:pt x="2052" y="9357"/>
                    <a:pt x="5704" y="5704"/>
                  </a:cubicBezTo>
                  <a:cubicBezTo>
                    <a:pt x="9357" y="2052"/>
                    <a:pt x="14310" y="0"/>
                    <a:pt x="19476" y="0"/>
                  </a:cubicBezTo>
                  <a:lnTo>
                    <a:pt x="2973031" y="0"/>
                  </a:lnTo>
                  <a:cubicBezTo>
                    <a:pt x="2978196" y="0"/>
                    <a:pt x="2983150" y="2052"/>
                    <a:pt x="2986802" y="5704"/>
                  </a:cubicBezTo>
                  <a:cubicBezTo>
                    <a:pt x="2990455" y="9357"/>
                    <a:pt x="2992507" y="14310"/>
                    <a:pt x="2992507" y="19476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2992507" cy="441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7654047"/>
            <a:ext cx="7950398" cy="707607"/>
          </a:xfrm>
          <a:custGeom>
            <a:avLst/>
            <a:gdLst/>
            <a:ahLst/>
            <a:cxnLst/>
            <a:rect r="r" b="b" t="t" l="l"/>
            <a:pathLst>
              <a:path h="707607" w="7950398">
                <a:moveTo>
                  <a:pt x="0" y="0"/>
                </a:moveTo>
                <a:lnTo>
                  <a:pt x="7950398" y="0"/>
                </a:lnTo>
                <a:lnTo>
                  <a:pt x="7950398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43" t="-54946" r="0" b="-196798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308902" y="7916048"/>
            <a:ext cx="7950398" cy="1342252"/>
            <a:chOff x="0" y="0"/>
            <a:chExt cx="2992507" cy="5052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2507" cy="505263"/>
            </a:xfrm>
            <a:custGeom>
              <a:avLst/>
              <a:gdLst/>
              <a:ahLst/>
              <a:cxnLst/>
              <a:rect r="r" b="b" t="t" l="l"/>
              <a:pathLst>
                <a:path h="505263" w="2992507">
                  <a:moveTo>
                    <a:pt x="2992507" y="19476"/>
                  </a:moveTo>
                  <a:lnTo>
                    <a:pt x="2992507" y="485787"/>
                  </a:lnTo>
                  <a:cubicBezTo>
                    <a:pt x="2992507" y="490952"/>
                    <a:pt x="2990455" y="495906"/>
                    <a:pt x="2986802" y="499558"/>
                  </a:cubicBezTo>
                  <a:cubicBezTo>
                    <a:pt x="2983150" y="503211"/>
                    <a:pt x="2978196" y="505263"/>
                    <a:pt x="2973031" y="505263"/>
                  </a:cubicBezTo>
                  <a:lnTo>
                    <a:pt x="19476" y="505263"/>
                  </a:lnTo>
                  <a:cubicBezTo>
                    <a:pt x="14310" y="505263"/>
                    <a:pt x="9357" y="503211"/>
                    <a:pt x="5704" y="499558"/>
                  </a:cubicBezTo>
                  <a:cubicBezTo>
                    <a:pt x="2052" y="495906"/>
                    <a:pt x="0" y="490952"/>
                    <a:pt x="0" y="485787"/>
                  </a:cubicBezTo>
                  <a:lnTo>
                    <a:pt x="0" y="19476"/>
                  </a:lnTo>
                  <a:cubicBezTo>
                    <a:pt x="0" y="14310"/>
                    <a:pt x="2052" y="9357"/>
                    <a:pt x="5704" y="5704"/>
                  </a:cubicBezTo>
                  <a:cubicBezTo>
                    <a:pt x="9357" y="2052"/>
                    <a:pt x="14310" y="0"/>
                    <a:pt x="19476" y="0"/>
                  </a:cubicBezTo>
                  <a:lnTo>
                    <a:pt x="2973031" y="0"/>
                  </a:lnTo>
                  <a:cubicBezTo>
                    <a:pt x="2978196" y="0"/>
                    <a:pt x="2983150" y="2052"/>
                    <a:pt x="2986802" y="5704"/>
                  </a:cubicBezTo>
                  <a:cubicBezTo>
                    <a:pt x="2990455" y="9357"/>
                    <a:pt x="2992507" y="14310"/>
                    <a:pt x="2992507" y="19476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76200"/>
              <a:ext cx="2992507" cy="429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329515" y="7654047"/>
            <a:ext cx="7950398" cy="707607"/>
          </a:xfrm>
          <a:custGeom>
            <a:avLst/>
            <a:gdLst/>
            <a:ahLst/>
            <a:cxnLst/>
            <a:rect r="r" b="b" t="t" l="l"/>
            <a:pathLst>
              <a:path h="707607" w="7950398">
                <a:moveTo>
                  <a:pt x="0" y="0"/>
                </a:moveTo>
                <a:lnTo>
                  <a:pt x="7950398" y="0"/>
                </a:lnTo>
                <a:lnTo>
                  <a:pt x="7950398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43" t="-54946" r="0" b="-19679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18596" y="2817472"/>
            <a:ext cx="5370607" cy="4603377"/>
          </a:xfrm>
          <a:custGeom>
            <a:avLst/>
            <a:gdLst/>
            <a:ahLst/>
            <a:cxnLst/>
            <a:rect r="r" b="b" t="t" l="l"/>
            <a:pathLst>
              <a:path h="4603377" w="5370607">
                <a:moveTo>
                  <a:pt x="0" y="0"/>
                </a:moveTo>
                <a:lnTo>
                  <a:pt x="5370606" y="0"/>
                </a:lnTo>
                <a:lnTo>
                  <a:pt x="5370606" y="4603377"/>
                </a:lnTo>
                <a:lnTo>
                  <a:pt x="0" y="4603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573343" y="2768339"/>
            <a:ext cx="5462741" cy="4682349"/>
          </a:xfrm>
          <a:custGeom>
            <a:avLst/>
            <a:gdLst/>
            <a:ahLst/>
            <a:cxnLst/>
            <a:rect r="r" b="b" t="t" l="l"/>
            <a:pathLst>
              <a:path h="4682349" w="5462741">
                <a:moveTo>
                  <a:pt x="0" y="0"/>
                </a:moveTo>
                <a:lnTo>
                  <a:pt x="5462741" y="0"/>
                </a:lnTo>
                <a:lnTo>
                  <a:pt x="5462741" y="4682349"/>
                </a:lnTo>
                <a:lnTo>
                  <a:pt x="0" y="46823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63836" y="981075"/>
            <a:ext cx="15760328" cy="152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Structure-Based Experiment:</a:t>
            </a:r>
          </a:p>
          <a:p>
            <a:pPr algn="ctr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 Candidate Regions On Experimental GPR68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3538" y="7834178"/>
            <a:ext cx="590072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Pocket 1 • Primary Candidate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5245" y="8510824"/>
            <a:ext cx="667730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P2Rank score 7.06 • probability 0.366 • centre (145.764, 127.948, 98.930)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33740" y="7834178"/>
            <a:ext cx="5900722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27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Pocket 2 • Alternative Site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45447" y="8510824"/>
            <a:ext cx="6677308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P2Rank score 6.87 • probability 0.353 • centre (129.885, 132.584, 117.625)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78436" y="9391650"/>
            <a:ext cx="10331129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i="true">
                <a:solidFill>
                  <a:srgbClr val="000000">
                    <a:alpha val="69804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*These are computationally predicted candidate binding sites — not experimentally proven ligand-binding sites.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7799" y="1984792"/>
            <a:ext cx="3434554" cy="584686"/>
          </a:xfrm>
          <a:custGeom>
            <a:avLst/>
            <a:gdLst/>
            <a:ahLst/>
            <a:cxnLst/>
            <a:rect r="r" b="b" t="t" l="l"/>
            <a:pathLst>
              <a:path h="584686" w="3434554">
                <a:moveTo>
                  <a:pt x="0" y="0"/>
                </a:moveTo>
                <a:lnTo>
                  <a:pt x="3434553" y="0"/>
                </a:lnTo>
                <a:lnTo>
                  <a:pt x="3434553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10" t="-33476" r="-36593" b="-11771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986452"/>
            <a:ext cx="8764596" cy="2550815"/>
            <a:chOff x="0" y="0"/>
            <a:chExt cx="3298968" cy="960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8968" cy="960201"/>
            </a:xfrm>
            <a:custGeom>
              <a:avLst/>
              <a:gdLst/>
              <a:ahLst/>
              <a:cxnLst/>
              <a:rect r="r" b="b" t="t" l="l"/>
              <a:pathLst>
                <a:path h="960201" w="3298968">
                  <a:moveTo>
                    <a:pt x="3298968" y="17666"/>
                  </a:moveTo>
                  <a:lnTo>
                    <a:pt x="3298968" y="942535"/>
                  </a:lnTo>
                  <a:cubicBezTo>
                    <a:pt x="3298968" y="947220"/>
                    <a:pt x="3297107" y="951714"/>
                    <a:pt x="3293794" y="955027"/>
                  </a:cubicBezTo>
                  <a:cubicBezTo>
                    <a:pt x="3290481" y="958340"/>
                    <a:pt x="3285987" y="960201"/>
                    <a:pt x="3281302" y="960201"/>
                  </a:cubicBezTo>
                  <a:lnTo>
                    <a:pt x="17666" y="960201"/>
                  </a:lnTo>
                  <a:cubicBezTo>
                    <a:pt x="7909" y="960201"/>
                    <a:pt x="0" y="952292"/>
                    <a:pt x="0" y="942535"/>
                  </a:cubicBezTo>
                  <a:lnTo>
                    <a:pt x="0" y="17666"/>
                  </a:lnTo>
                  <a:cubicBezTo>
                    <a:pt x="0" y="12981"/>
                    <a:pt x="1861" y="8487"/>
                    <a:pt x="5174" y="5174"/>
                  </a:cubicBezTo>
                  <a:cubicBezTo>
                    <a:pt x="8487" y="1861"/>
                    <a:pt x="12981" y="0"/>
                    <a:pt x="17666" y="0"/>
                  </a:cubicBezTo>
                  <a:lnTo>
                    <a:pt x="3281302" y="0"/>
                  </a:lnTo>
                  <a:cubicBezTo>
                    <a:pt x="3291059" y="0"/>
                    <a:pt x="3298968" y="7909"/>
                    <a:pt x="3298968" y="17666"/>
                  </a:cubicBezTo>
                  <a:close/>
                </a:path>
              </a:pathLst>
            </a:custGeom>
            <a:solidFill>
              <a:srgbClr val="5E17EB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76200"/>
              <a:ext cx="3298968" cy="884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727767"/>
            <a:ext cx="8764596" cy="2599517"/>
            <a:chOff x="0" y="0"/>
            <a:chExt cx="3298968" cy="9785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98968" cy="978534"/>
            </a:xfrm>
            <a:custGeom>
              <a:avLst/>
              <a:gdLst/>
              <a:ahLst/>
              <a:cxnLst/>
              <a:rect r="r" b="b" t="t" l="l"/>
              <a:pathLst>
                <a:path h="978534" w="3298968">
                  <a:moveTo>
                    <a:pt x="3298968" y="17666"/>
                  </a:moveTo>
                  <a:lnTo>
                    <a:pt x="3298968" y="960868"/>
                  </a:lnTo>
                  <a:cubicBezTo>
                    <a:pt x="3298968" y="965553"/>
                    <a:pt x="3297107" y="970046"/>
                    <a:pt x="3293794" y="973359"/>
                  </a:cubicBezTo>
                  <a:cubicBezTo>
                    <a:pt x="3290481" y="976673"/>
                    <a:pt x="3285987" y="978534"/>
                    <a:pt x="3281302" y="978534"/>
                  </a:cubicBezTo>
                  <a:lnTo>
                    <a:pt x="17666" y="978534"/>
                  </a:lnTo>
                  <a:cubicBezTo>
                    <a:pt x="12981" y="978534"/>
                    <a:pt x="8487" y="976673"/>
                    <a:pt x="5174" y="973359"/>
                  </a:cubicBezTo>
                  <a:cubicBezTo>
                    <a:pt x="1861" y="970046"/>
                    <a:pt x="0" y="965553"/>
                    <a:pt x="0" y="960868"/>
                  </a:cubicBezTo>
                  <a:lnTo>
                    <a:pt x="0" y="17666"/>
                  </a:lnTo>
                  <a:cubicBezTo>
                    <a:pt x="0" y="12981"/>
                    <a:pt x="1861" y="8487"/>
                    <a:pt x="5174" y="5174"/>
                  </a:cubicBezTo>
                  <a:cubicBezTo>
                    <a:pt x="8487" y="1861"/>
                    <a:pt x="12981" y="0"/>
                    <a:pt x="17666" y="0"/>
                  </a:cubicBezTo>
                  <a:lnTo>
                    <a:pt x="3281302" y="0"/>
                  </a:lnTo>
                  <a:cubicBezTo>
                    <a:pt x="3291059" y="0"/>
                    <a:pt x="3298968" y="7909"/>
                    <a:pt x="3298968" y="17666"/>
                  </a:cubicBezTo>
                  <a:close/>
                </a:path>
              </a:pathLst>
            </a:custGeom>
            <a:solidFill>
              <a:srgbClr val="FFBD59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76200"/>
              <a:ext cx="3298968" cy="902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36757" y="4765867"/>
            <a:ext cx="8748483" cy="584686"/>
          </a:xfrm>
          <a:custGeom>
            <a:avLst/>
            <a:gdLst/>
            <a:ahLst/>
            <a:cxnLst/>
            <a:rect r="r" b="b" t="t" l="l"/>
            <a:pathLst>
              <a:path h="584686" w="8748483">
                <a:moveTo>
                  <a:pt x="0" y="0"/>
                </a:moveTo>
                <a:lnTo>
                  <a:pt x="8748483" y="0"/>
                </a:lnTo>
                <a:lnTo>
                  <a:pt x="8748483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503" t="-125476" r="0" b="-41573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974271" y="1986086"/>
            <a:ext cx="3438081" cy="5341198"/>
            <a:chOff x="0" y="0"/>
            <a:chExt cx="1294084" cy="20105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4084" cy="2010583"/>
            </a:xfrm>
            <a:custGeom>
              <a:avLst/>
              <a:gdLst/>
              <a:ahLst/>
              <a:cxnLst/>
              <a:rect r="r" b="b" t="t" l="l"/>
              <a:pathLst>
                <a:path h="2010583" w="1294084">
                  <a:moveTo>
                    <a:pt x="1294084" y="45036"/>
                  </a:moveTo>
                  <a:lnTo>
                    <a:pt x="1294084" y="1965546"/>
                  </a:lnTo>
                  <a:cubicBezTo>
                    <a:pt x="1294084" y="1977491"/>
                    <a:pt x="1289339" y="1988946"/>
                    <a:pt x="1280893" y="1997392"/>
                  </a:cubicBezTo>
                  <a:cubicBezTo>
                    <a:pt x="1272447" y="2005838"/>
                    <a:pt x="1260992" y="2010583"/>
                    <a:pt x="1249047" y="2010583"/>
                  </a:cubicBezTo>
                  <a:lnTo>
                    <a:pt x="45036" y="2010583"/>
                  </a:lnTo>
                  <a:cubicBezTo>
                    <a:pt x="33092" y="2010583"/>
                    <a:pt x="21637" y="2005838"/>
                    <a:pt x="13191" y="1997392"/>
                  </a:cubicBezTo>
                  <a:cubicBezTo>
                    <a:pt x="4745" y="1988946"/>
                    <a:pt x="0" y="1977491"/>
                    <a:pt x="0" y="1965546"/>
                  </a:cubicBezTo>
                  <a:lnTo>
                    <a:pt x="0" y="45036"/>
                  </a:lnTo>
                  <a:cubicBezTo>
                    <a:pt x="0" y="33092"/>
                    <a:pt x="4745" y="21637"/>
                    <a:pt x="13191" y="13191"/>
                  </a:cubicBezTo>
                  <a:cubicBezTo>
                    <a:pt x="21637" y="4745"/>
                    <a:pt x="33092" y="0"/>
                    <a:pt x="45036" y="0"/>
                  </a:cubicBezTo>
                  <a:lnTo>
                    <a:pt x="1249047" y="0"/>
                  </a:lnTo>
                  <a:cubicBezTo>
                    <a:pt x="1260992" y="0"/>
                    <a:pt x="1272447" y="4745"/>
                    <a:pt x="1280893" y="13191"/>
                  </a:cubicBezTo>
                  <a:cubicBezTo>
                    <a:pt x="1289339" y="21637"/>
                    <a:pt x="1294084" y="33092"/>
                    <a:pt x="1294084" y="45036"/>
                  </a:cubicBezTo>
                  <a:close/>
                </a:path>
              </a:pathLst>
            </a:custGeom>
            <a:solidFill>
              <a:srgbClr val="00BF63">
                <a:alpha val="19608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76200"/>
              <a:ext cx="1294084" cy="1934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527309"/>
            <a:ext cx="16274527" cy="1480378"/>
            <a:chOff x="0" y="0"/>
            <a:chExt cx="6125685" cy="557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5685" cy="557257"/>
            </a:xfrm>
            <a:custGeom>
              <a:avLst/>
              <a:gdLst/>
              <a:ahLst/>
              <a:cxnLst/>
              <a:rect r="r" b="b" t="t" l="l"/>
              <a:pathLst>
                <a:path h="557257" w="6125685">
                  <a:moveTo>
                    <a:pt x="6125685" y="9514"/>
                  </a:moveTo>
                  <a:lnTo>
                    <a:pt x="6125685" y="547743"/>
                  </a:lnTo>
                  <a:cubicBezTo>
                    <a:pt x="6125685" y="552998"/>
                    <a:pt x="6121425" y="557257"/>
                    <a:pt x="6116170" y="557257"/>
                  </a:cubicBezTo>
                  <a:lnTo>
                    <a:pt x="9514" y="557257"/>
                  </a:lnTo>
                  <a:cubicBezTo>
                    <a:pt x="6991" y="557257"/>
                    <a:pt x="4571" y="556255"/>
                    <a:pt x="2787" y="554471"/>
                  </a:cubicBezTo>
                  <a:cubicBezTo>
                    <a:pt x="1002" y="552687"/>
                    <a:pt x="0" y="550267"/>
                    <a:pt x="0" y="547743"/>
                  </a:cubicBezTo>
                  <a:lnTo>
                    <a:pt x="0" y="9514"/>
                  </a:lnTo>
                  <a:cubicBezTo>
                    <a:pt x="0" y="6991"/>
                    <a:pt x="1002" y="4571"/>
                    <a:pt x="2787" y="2787"/>
                  </a:cubicBezTo>
                  <a:cubicBezTo>
                    <a:pt x="4571" y="1002"/>
                    <a:pt x="6991" y="0"/>
                    <a:pt x="9514" y="0"/>
                  </a:cubicBezTo>
                  <a:lnTo>
                    <a:pt x="6116170" y="0"/>
                  </a:lnTo>
                  <a:cubicBezTo>
                    <a:pt x="6118694" y="0"/>
                    <a:pt x="6121114" y="1002"/>
                    <a:pt x="6122898" y="2787"/>
                  </a:cubicBezTo>
                  <a:cubicBezTo>
                    <a:pt x="6124682" y="4571"/>
                    <a:pt x="6125685" y="6991"/>
                    <a:pt x="6125685" y="9514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76200"/>
              <a:ext cx="6125685" cy="48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44813" y="1986452"/>
            <a:ext cx="8748483" cy="584686"/>
          </a:xfrm>
          <a:custGeom>
            <a:avLst/>
            <a:gdLst/>
            <a:ahLst/>
            <a:cxnLst/>
            <a:rect r="r" b="b" t="t" l="l"/>
            <a:pathLst>
              <a:path h="584686" w="8748483">
                <a:moveTo>
                  <a:pt x="0" y="0"/>
                </a:moveTo>
                <a:lnTo>
                  <a:pt x="8748483" y="0"/>
                </a:lnTo>
                <a:lnTo>
                  <a:pt x="8748483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503" t="-125476" r="0" b="-41573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4751" y="171333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2" y="0"/>
                </a:lnTo>
                <a:lnTo>
                  <a:pt x="647572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04751" y="4574898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2" y="0"/>
                </a:lnTo>
                <a:lnTo>
                  <a:pt x="647572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593327" y="1986452"/>
            <a:ext cx="3665973" cy="1353441"/>
            <a:chOff x="0" y="0"/>
            <a:chExt cx="1379862" cy="5094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9862" cy="509475"/>
            </a:xfrm>
            <a:custGeom>
              <a:avLst/>
              <a:gdLst/>
              <a:ahLst/>
              <a:cxnLst/>
              <a:rect r="r" b="b" t="t" l="l"/>
              <a:pathLst>
                <a:path h="509475" w="1379862">
                  <a:moveTo>
                    <a:pt x="1379862" y="42237"/>
                  </a:moveTo>
                  <a:lnTo>
                    <a:pt x="1379862" y="467238"/>
                  </a:lnTo>
                  <a:cubicBezTo>
                    <a:pt x="1379862" y="490565"/>
                    <a:pt x="1360952" y="509475"/>
                    <a:pt x="1337625" y="509475"/>
                  </a:cubicBezTo>
                  <a:lnTo>
                    <a:pt x="42237" y="509475"/>
                  </a:lnTo>
                  <a:cubicBezTo>
                    <a:pt x="18910" y="509475"/>
                    <a:pt x="0" y="490565"/>
                    <a:pt x="0" y="467238"/>
                  </a:cubicBezTo>
                  <a:lnTo>
                    <a:pt x="0" y="42237"/>
                  </a:lnTo>
                  <a:cubicBezTo>
                    <a:pt x="0" y="18910"/>
                    <a:pt x="18910" y="0"/>
                    <a:pt x="42237" y="0"/>
                  </a:cubicBezTo>
                  <a:lnTo>
                    <a:pt x="1337625" y="0"/>
                  </a:lnTo>
                  <a:cubicBezTo>
                    <a:pt x="1348827" y="0"/>
                    <a:pt x="1359570" y="4450"/>
                    <a:pt x="1367491" y="12371"/>
                  </a:cubicBezTo>
                  <a:cubicBezTo>
                    <a:pt x="1375412" y="20292"/>
                    <a:pt x="1379862" y="31035"/>
                    <a:pt x="1379862" y="42237"/>
                  </a:cubicBezTo>
                  <a:close/>
                </a:path>
              </a:pathLst>
            </a:custGeom>
            <a:solidFill>
              <a:srgbClr val="5170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76200"/>
              <a:ext cx="1379862" cy="433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93327" y="3425618"/>
            <a:ext cx="3665973" cy="1231067"/>
            <a:chOff x="0" y="0"/>
            <a:chExt cx="1379862" cy="4634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9862" cy="463409"/>
            </a:xfrm>
            <a:custGeom>
              <a:avLst/>
              <a:gdLst/>
              <a:ahLst/>
              <a:cxnLst/>
              <a:rect r="r" b="b" t="t" l="l"/>
              <a:pathLst>
                <a:path h="463409" w="1379862">
                  <a:moveTo>
                    <a:pt x="1379862" y="42237"/>
                  </a:moveTo>
                  <a:lnTo>
                    <a:pt x="1379862" y="421173"/>
                  </a:lnTo>
                  <a:cubicBezTo>
                    <a:pt x="1379862" y="444499"/>
                    <a:pt x="1360952" y="463409"/>
                    <a:pt x="1337625" y="463409"/>
                  </a:cubicBezTo>
                  <a:lnTo>
                    <a:pt x="42237" y="463409"/>
                  </a:lnTo>
                  <a:cubicBezTo>
                    <a:pt x="18910" y="463409"/>
                    <a:pt x="0" y="444499"/>
                    <a:pt x="0" y="421173"/>
                  </a:cubicBezTo>
                  <a:lnTo>
                    <a:pt x="0" y="42237"/>
                  </a:lnTo>
                  <a:cubicBezTo>
                    <a:pt x="0" y="18910"/>
                    <a:pt x="18910" y="0"/>
                    <a:pt x="42237" y="0"/>
                  </a:cubicBezTo>
                  <a:lnTo>
                    <a:pt x="1337625" y="0"/>
                  </a:lnTo>
                  <a:cubicBezTo>
                    <a:pt x="1348827" y="0"/>
                    <a:pt x="1359570" y="4450"/>
                    <a:pt x="1367491" y="12371"/>
                  </a:cubicBezTo>
                  <a:cubicBezTo>
                    <a:pt x="1375412" y="20292"/>
                    <a:pt x="1379862" y="31035"/>
                    <a:pt x="1379862" y="42237"/>
                  </a:cubicBezTo>
                  <a:close/>
                </a:path>
              </a:pathLst>
            </a:custGeom>
            <a:solidFill>
              <a:srgbClr val="5170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76200"/>
              <a:ext cx="1379862" cy="387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593327" y="4740983"/>
            <a:ext cx="3709900" cy="1241425"/>
            <a:chOff x="0" y="0"/>
            <a:chExt cx="1396396" cy="4673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6396" cy="467308"/>
            </a:xfrm>
            <a:custGeom>
              <a:avLst/>
              <a:gdLst/>
              <a:ahLst/>
              <a:cxnLst/>
              <a:rect r="r" b="b" t="t" l="l"/>
              <a:pathLst>
                <a:path h="467308" w="1396396">
                  <a:moveTo>
                    <a:pt x="1396396" y="41737"/>
                  </a:moveTo>
                  <a:lnTo>
                    <a:pt x="1396396" y="425572"/>
                  </a:lnTo>
                  <a:cubicBezTo>
                    <a:pt x="1396396" y="448622"/>
                    <a:pt x="1377710" y="467308"/>
                    <a:pt x="1354659" y="467308"/>
                  </a:cubicBezTo>
                  <a:lnTo>
                    <a:pt x="41737" y="467308"/>
                  </a:lnTo>
                  <a:cubicBezTo>
                    <a:pt x="18686" y="467308"/>
                    <a:pt x="0" y="448622"/>
                    <a:pt x="0" y="425572"/>
                  </a:cubicBezTo>
                  <a:lnTo>
                    <a:pt x="0" y="41737"/>
                  </a:lnTo>
                  <a:cubicBezTo>
                    <a:pt x="0" y="18686"/>
                    <a:pt x="18686" y="0"/>
                    <a:pt x="41737" y="0"/>
                  </a:cubicBezTo>
                  <a:lnTo>
                    <a:pt x="1354659" y="0"/>
                  </a:lnTo>
                  <a:cubicBezTo>
                    <a:pt x="1377710" y="0"/>
                    <a:pt x="1396396" y="18686"/>
                    <a:pt x="1396396" y="41737"/>
                  </a:cubicBezTo>
                  <a:close/>
                </a:path>
              </a:pathLst>
            </a:custGeom>
            <a:solidFill>
              <a:srgbClr val="5170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76200"/>
              <a:ext cx="1396396" cy="39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93327" y="6066705"/>
            <a:ext cx="3709900" cy="1260579"/>
            <a:chOff x="0" y="0"/>
            <a:chExt cx="1396396" cy="4745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6396" cy="474519"/>
            </a:xfrm>
            <a:custGeom>
              <a:avLst/>
              <a:gdLst/>
              <a:ahLst/>
              <a:cxnLst/>
              <a:rect r="r" b="b" t="t" l="l"/>
              <a:pathLst>
                <a:path h="474519" w="1396396">
                  <a:moveTo>
                    <a:pt x="1396396" y="41737"/>
                  </a:moveTo>
                  <a:lnTo>
                    <a:pt x="1396396" y="432782"/>
                  </a:lnTo>
                  <a:cubicBezTo>
                    <a:pt x="1396396" y="455833"/>
                    <a:pt x="1377710" y="474519"/>
                    <a:pt x="1354659" y="474519"/>
                  </a:cubicBezTo>
                  <a:lnTo>
                    <a:pt x="41737" y="474519"/>
                  </a:lnTo>
                  <a:cubicBezTo>
                    <a:pt x="18686" y="474519"/>
                    <a:pt x="0" y="455833"/>
                    <a:pt x="0" y="432782"/>
                  </a:cubicBezTo>
                  <a:lnTo>
                    <a:pt x="0" y="41737"/>
                  </a:lnTo>
                  <a:cubicBezTo>
                    <a:pt x="0" y="18686"/>
                    <a:pt x="18686" y="0"/>
                    <a:pt x="41737" y="0"/>
                  </a:cubicBezTo>
                  <a:lnTo>
                    <a:pt x="1354659" y="0"/>
                  </a:lnTo>
                  <a:cubicBezTo>
                    <a:pt x="1377710" y="0"/>
                    <a:pt x="1396396" y="18686"/>
                    <a:pt x="1396396" y="41737"/>
                  </a:cubicBezTo>
                  <a:close/>
                </a:path>
              </a:pathLst>
            </a:custGeom>
            <a:solidFill>
              <a:srgbClr val="5170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76200"/>
              <a:ext cx="1396396" cy="39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375375" y="5557537"/>
            <a:ext cx="6178422" cy="1529082"/>
            <a:chOff x="0" y="0"/>
            <a:chExt cx="2325574" cy="5755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25574" cy="575551"/>
            </a:xfrm>
            <a:custGeom>
              <a:avLst/>
              <a:gdLst/>
              <a:ahLst/>
              <a:cxnLst/>
              <a:rect r="r" b="b" t="t" l="l"/>
              <a:pathLst>
                <a:path h="575551" w="2325574">
                  <a:moveTo>
                    <a:pt x="0" y="0"/>
                  </a:moveTo>
                  <a:lnTo>
                    <a:pt x="2325574" y="0"/>
                  </a:lnTo>
                  <a:lnTo>
                    <a:pt x="2325574" y="575551"/>
                  </a:lnTo>
                  <a:lnTo>
                    <a:pt x="0" y="575551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76200"/>
              <a:ext cx="2325574" cy="499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616460" y="6175283"/>
            <a:ext cx="1275242" cy="1115837"/>
          </a:xfrm>
          <a:custGeom>
            <a:avLst/>
            <a:gdLst/>
            <a:ahLst/>
            <a:cxnLst/>
            <a:rect r="r" b="b" t="t" l="l"/>
            <a:pathLst>
              <a:path h="1115837" w="1275242">
                <a:moveTo>
                  <a:pt x="0" y="0"/>
                </a:moveTo>
                <a:lnTo>
                  <a:pt x="1275242" y="0"/>
                </a:lnTo>
                <a:lnTo>
                  <a:pt x="1275242" y="1115837"/>
                </a:lnTo>
                <a:lnTo>
                  <a:pt x="0" y="1115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593327" y="3425618"/>
            <a:ext cx="1352387" cy="584686"/>
          </a:xfrm>
          <a:custGeom>
            <a:avLst/>
            <a:gdLst/>
            <a:ahLst/>
            <a:cxnLst/>
            <a:rect r="r" b="b" t="t" l="l"/>
            <a:pathLst>
              <a:path h="584686" w="1352387">
                <a:moveTo>
                  <a:pt x="0" y="0"/>
                </a:moveTo>
                <a:lnTo>
                  <a:pt x="1352387" y="0"/>
                </a:lnTo>
                <a:lnTo>
                  <a:pt x="1352387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3950" t="-66497" r="-329467" b="-259195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425038" y="2158424"/>
            <a:ext cx="3225447" cy="2239502"/>
          </a:xfrm>
          <a:custGeom>
            <a:avLst/>
            <a:gdLst/>
            <a:ahLst/>
            <a:cxnLst/>
            <a:rect r="r" b="b" t="t" l="l"/>
            <a:pathLst>
              <a:path h="2239502" w="3225447">
                <a:moveTo>
                  <a:pt x="0" y="0"/>
                </a:moveTo>
                <a:lnTo>
                  <a:pt x="3225447" y="0"/>
                </a:lnTo>
                <a:lnTo>
                  <a:pt x="3225447" y="2239501"/>
                </a:lnTo>
                <a:lnTo>
                  <a:pt x="0" y="22395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48" t="0" r="-2809" b="-77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260021" y="2810144"/>
            <a:ext cx="2889267" cy="4276476"/>
          </a:xfrm>
          <a:custGeom>
            <a:avLst/>
            <a:gdLst/>
            <a:ahLst/>
            <a:cxnLst/>
            <a:rect r="r" b="b" t="t" l="l"/>
            <a:pathLst>
              <a:path h="4276476" w="2889267">
                <a:moveTo>
                  <a:pt x="0" y="0"/>
                </a:moveTo>
                <a:lnTo>
                  <a:pt x="2889267" y="0"/>
                </a:lnTo>
                <a:lnTo>
                  <a:pt x="2889267" y="4276475"/>
                </a:lnTo>
                <a:lnTo>
                  <a:pt x="0" y="42764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6740" t="0" r="-40874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450457" y="2060402"/>
            <a:ext cx="415340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Redocked Pose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593327" y="1984792"/>
            <a:ext cx="1352387" cy="584686"/>
          </a:xfrm>
          <a:custGeom>
            <a:avLst/>
            <a:gdLst/>
            <a:ahLst/>
            <a:cxnLst/>
            <a:rect r="r" b="b" t="t" l="l"/>
            <a:pathLst>
              <a:path h="584686" w="1352387">
                <a:moveTo>
                  <a:pt x="0" y="0"/>
                </a:moveTo>
                <a:lnTo>
                  <a:pt x="1352387" y="0"/>
                </a:lnTo>
                <a:lnTo>
                  <a:pt x="1352387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3950" t="-66497" r="-329467" b="-259195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593327" y="4733631"/>
            <a:ext cx="2446812" cy="584686"/>
          </a:xfrm>
          <a:custGeom>
            <a:avLst/>
            <a:gdLst/>
            <a:ahLst/>
            <a:cxnLst/>
            <a:rect r="r" b="b" t="t" l="l"/>
            <a:pathLst>
              <a:path h="584686" w="2446812">
                <a:moveTo>
                  <a:pt x="0" y="0"/>
                </a:moveTo>
                <a:lnTo>
                  <a:pt x="2446812" y="0"/>
                </a:lnTo>
                <a:lnTo>
                  <a:pt x="2446812" y="584686"/>
                </a:lnTo>
                <a:lnTo>
                  <a:pt x="0" y="584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45" t="-66497" r="-137372" b="-259195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593327" y="6063807"/>
            <a:ext cx="2446812" cy="584686"/>
          </a:xfrm>
          <a:custGeom>
            <a:avLst/>
            <a:gdLst/>
            <a:ahLst/>
            <a:cxnLst/>
            <a:rect r="r" b="b" t="t" l="l"/>
            <a:pathLst>
              <a:path h="584686" w="2446812">
                <a:moveTo>
                  <a:pt x="0" y="0"/>
                </a:moveTo>
                <a:lnTo>
                  <a:pt x="2446812" y="0"/>
                </a:lnTo>
                <a:lnTo>
                  <a:pt x="2446812" y="584687"/>
                </a:lnTo>
                <a:lnTo>
                  <a:pt x="0" y="5846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45" t="-66497" r="-137372" b="-259195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4945714" y="1986086"/>
            <a:ext cx="2313586" cy="583393"/>
            <a:chOff x="0" y="0"/>
            <a:chExt cx="615418" cy="1551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5418" cy="155183"/>
            </a:xfrm>
            <a:custGeom>
              <a:avLst/>
              <a:gdLst/>
              <a:ahLst/>
              <a:cxnLst/>
              <a:rect r="r" b="b" t="t" l="l"/>
              <a:pathLst>
                <a:path h="155183" w="615418">
                  <a:moveTo>
                    <a:pt x="0" y="0"/>
                  </a:moveTo>
                  <a:lnTo>
                    <a:pt x="615418" y="0"/>
                  </a:lnTo>
                  <a:lnTo>
                    <a:pt x="615418" y="155183"/>
                  </a:lnTo>
                  <a:lnTo>
                    <a:pt x="0" y="1551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38100"/>
              <a:ext cx="615418" cy="11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945714" y="3425618"/>
            <a:ext cx="2313586" cy="583393"/>
            <a:chOff x="0" y="0"/>
            <a:chExt cx="615418" cy="1551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5418" cy="155183"/>
            </a:xfrm>
            <a:custGeom>
              <a:avLst/>
              <a:gdLst/>
              <a:ahLst/>
              <a:cxnLst/>
              <a:rect r="r" b="b" t="t" l="l"/>
              <a:pathLst>
                <a:path h="155183" w="615418">
                  <a:moveTo>
                    <a:pt x="0" y="0"/>
                  </a:moveTo>
                  <a:lnTo>
                    <a:pt x="615418" y="0"/>
                  </a:lnTo>
                  <a:lnTo>
                    <a:pt x="615418" y="155183"/>
                  </a:lnTo>
                  <a:lnTo>
                    <a:pt x="0" y="1551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38100"/>
              <a:ext cx="615418" cy="11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040139" y="4734925"/>
            <a:ext cx="1263088" cy="583393"/>
            <a:chOff x="0" y="0"/>
            <a:chExt cx="335984" cy="1551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5984" cy="155183"/>
            </a:xfrm>
            <a:custGeom>
              <a:avLst/>
              <a:gdLst/>
              <a:ahLst/>
              <a:cxnLst/>
              <a:rect r="r" b="b" t="t" l="l"/>
              <a:pathLst>
                <a:path h="155183" w="335984">
                  <a:moveTo>
                    <a:pt x="0" y="0"/>
                  </a:moveTo>
                  <a:lnTo>
                    <a:pt x="335984" y="0"/>
                  </a:lnTo>
                  <a:lnTo>
                    <a:pt x="335984" y="155183"/>
                  </a:lnTo>
                  <a:lnTo>
                    <a:pt x="0" y="1551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38100"/>
              <a:ext cx="335984" cy="11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043563" y="6065101"/>
            <a:ext cx="1263088" cy="583393"/>
            <a:chOff x="0" y="0"/>
            <a:chExt cx="335984" cy="1551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5984" cy="155183"/>
            </a:xfrm>
            <a:custGeom>
              <a:avLst/>
              <a:gdLst/>
              <a:ahLst/>
              <a:cxnLst/>
              <a:rect r="r" b="b" t="t" l="l"/>
              <a:pathLst>
                <a:path h="155183" w="335984">
                  <a:moveTo>
                    <a:pt x="0" y="0"/>
                  </a:moveTo>
                  <a:lnTo>
                    <a:pt x="335984" y="0"/>
                  </a:lnTo>
                  <a:lnTo>
                    <a:pt x="335984" y="155183"/>
                  </a:lnTo>
                  <a:lnTo>
                    <a:pt x="0" y="1551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38100"/>
              <a:ext cx="335984" cy="11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69026" y="968188"/>
            <a:ext cx="2226919" cy="894073"/>
            <a:chOff x="0" y="0"/>
            <a:chExt cx="586514" cy="2354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6514" cy="235476"/>
            </a:xfrm>
            <a:custGeom>
              <a:avLst/>
              <a:gdLst/>
              <a:ahLst/>
              <a:cxnLst/>
              <a:rect r="r" b="b" t="t" l="l"/>
              <a:pathLst>
                <a:path h="235476" w="586514">
                  <a:moveTo>
                    <a:pt x="0" y="0"/>
                  </a:moveTo>
                  <a:lnTo>
                    <a:pt x="586514" y="0"/>
                  </a:lnTo>
                  <a:lnTo>
                    <a:pt x="586514" y="235476"/>
                  </a:lnTo>
                  <a:lnTo>
                    <a:pt x="0" y="235476"/>
                  </a:lnTo>
                  <a:close/>
                </a:path>
              </a:pathLst>
            </a:custGeom>
            <a:ln w="38100" cap="sq">
              <a:solidFill>
                <a:srgbClr val="FF2828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38100"/>
              <a:ext cx="586514" cy="197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true" flipV="false" rot="8894564">
            <a:off x="16882809" y="2083358"/>
            <a:ext cx="686746" cy="260964"/>
          </a:xfrm>
          <a:custGeom>
            <a:avLst/>
            <a:gdLst/>
            <a:ahLst/>
            <a:cxnLst/>
            <a:rect r="r" b="b" t="t" l="l"/>
            <a:pathLst>
              <a:path h="260964" w="686746">
                <a:moveTo>
                  <a:pt x="686747" y="0"/>
                </a:moveTo>
                <a:lnTo>
                  <a:pt x="0" y="0"/>
                </a:lnTo>
                <a:lnTo>
                  <a:pt x="0" y="260964"/>
                </a:lnTo>
                <a:lnTo>
                  <a:pt x="686747" y="260964"/>
                </a:lnTo>
                <a:lnTo>
                  <a:pt x="686747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028700" y="981075"/>
            <a:ext cx="16348220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GNINA Workflow: Reproducing A Reference Pose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315405" y="7832109"/>
            <a:ext cx="12658516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software installation, receptor/ligand inputs, search procedure and output parsing can produce a </a:t>
            </a:r>
            <a:r>
              <a:rPr lang="en-US" sz="2399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close redocked pose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This is </a:t>
            </a:r>
            <a:r>
              <a:rPr lang="en-US" b="true" sz="23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validation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of the workflow — not proof of GPR68 biology.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493200" y="5710573"/>
            <a:ext cx="596212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Same receptor and ligand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Same search box and parameters as production run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Redocking to produce the reference pose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584973" y="3505225"/>
            <a:ext cx="244167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−8.51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221114" y="4813884"/>
            <a:ext cx="244167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0.979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221114" y="6156966"/>
            <a:ext cx="244167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7.160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781134" y="2632503"/>
            <a:ext cx="3346269" cy="62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5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wer RMSD = The predicted pose is </a:t>
            </a:r>
            <a:r>
              <a:rPr lang="en-US" sz="1599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geometrically closer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 the reference pose.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760231" y="3569969"/>
            <a:ext cx="1908795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Affinity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781134" y="5413567"/>
            <a:ext cx="3192787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Neural-netw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ork assessment of pose plausibility.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781134" y="6858044"/>
            <a:ext cx="3192787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CNN-</a:t>
            </a: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derived affinity-related score.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57669" y="6432212"/>
            <a:ext cx="1392823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GNINA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760231" y="4172230"/>
            <a:ext cx="3367172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GNINA docking score for the top pose.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454269" y="2065692"/>
            <a:ext cx="244167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FF28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0.594 Å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81134" y="2122830"/>
            <a:ext cx="1908795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RMSD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762341" y="1114806"/>
            <a:ext cx="2086942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 redocking RMSD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781134" y="4885285"/>
            <a:ext cx="214081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Pose Score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781134" y="6215462"/>
            <a:ext cx="214081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 Pose Score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1044813" y="7527309"/>
            <a:ext cx="2919906" cy="1480378"/>
          </a:xfrm>
          <a:custGeom>
            <a:avLst/>
            <a:gdLst/>
            <a:ahLst/>
            <a:cxnLst/>
            <a:rect r="r" b="b" t="t" l="l"/>
            <a:pathLst>
              <a:path h="1480378" w="2919906">
                <a:moveTo>
                  <a:pt x="0" y="0"/>
                </a:moveTo>
                <a:lnTo>
                  <a:pt x="2919906" y="0"/>
                </a:lnTo>
                <a:lnTo>
                  <a:pt x="2919906" y="1480379"/>
                </a:lnTo>
                <a:lnTo>
                  <a:pt x="0" y="14803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6723" t="-41201" r="-163490" b="-81513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368599" y="7655358"/>
            <a:ext cx="2502582" cy="125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This Preliminary Result Means</a:t>
            </a:r>
          </a:p>
        </p:txBody>
      </p:sp>
      <p:sp>
        <p:nvSpPr>
          <p:cNvPr name="Freeform 78" id="78"/>
          <p:cNvSpPr/>
          <p:nvPr/>
        </p:nvSpPr>
        <p:spPr>
          <a:xfrm flipH="false" flipV="false" rot="0">
            <a:off x="9650485" y="1756791"/>
            <a:ext cx="647572" cy="647572"/>
          </a:xfrm>
          <a:custGeom>
            <a:avLst/>
            <a:gdLst/>
            <a:ahLst/>
            <a:cxnLst/>
            <a:rect r="r" b="b" t="t" l="l"/>
            <a:pathLst>
              <a:path h="647572" w="647572">
                <a:moveTo>
                  <a:pt x="0" y="0"/>
                </a:moveTo>
                <a:lnTo>
                  <a:pt x="647572" y="0"/>
                </a:lnTo>
                <a:lnTo>
                  <a:pt x="647572" y="647572"/>
                </a:lnTo>
                <a:lnTo>
                  <a:pt x="0" y="647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79" id="79"/>
          <p:cNvSpPr txBox="true"/>
          <p:nvPr/>
        </p:nvSpPr>
        <p:spPr>
          <a:xfrm rot="0">
            <a:off x="1455173" y="2066705"/>
            <a:ext cx="5019091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Structure and Ligand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55173" y="4854524"/>
            <a:ext cx="6023321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Docking with GNINA (Reducing)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06112" y="5576587"/>
            <a:ext cx="1695937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Workflow Settings: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35342" y="2663189"/>
            <a:ext cx="5138923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receptor structure and benchmark ligands were processed and optimized before docking. These prepared input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 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the foundation for pr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 l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nd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2399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din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 within candidate GPR68 pockets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6354" y="8091120"/>
            <a:ext cx="9712946" cy="1972845"/>
            <a:chOff x="0" y="0"/>
            <a:chExt cx="3655925" cy="7426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55925" cy="742636"/>
            </a:xfrm>
            <a:custGeom>
              <a:avLst/>
              <a:gdLst/>
              <a:ahLst/>
              <a:cxnLst/>
              <a:rect r="r" b="b" t="t" l="l"/>
              <a:pathLst>
                <a:path h="742636" w="3655925">
                  <a:moveTo>
                    <a:pt x="3655925" y="15941"/>
                  </a:moveTo>
                  <a:lnTo>
                    <a:pt x="3655925" y="726695"/>
                  </a:lnTo>
                  <a:cubicBezTo>
                    <a:pt x="3655925" y="730923"/>
                    <a:pt x="3654245" y="734978"/>
                    <a:pt x="3651255" y="737967"/>
                  </a:cubicBezTo>
                  <a:cubicBezTo>
                    <a:pt x="3648266" y="740957"/>
                    <a:pt x="3644211" y="742636"/>
                    <a:pt x="3639983" y="742636"/>
                  </a:cubicBezTo>
                  <a:lnTo>
                    <a:pt x="15941" y="742636"/>
                  </a:lnTo>
                  <a:cubicBezTo>
                    <a:pt x="11714" y="742636"/>
                    <a:pt x="7659" y="740957"/>
                    <a:pt x="4669" y="737967"/>
                  </a:cubicBezTo>
                  <a:cubicBezTo>
                    <a:pt x="1680" y="734978"/>
                    <a:pt x="0" y="730923"/>
                    <a:pt x="0" y="726695"/>
                  </a:cubicBezTo>
                  <a:lnTo>
                    <a:pt x="0" y="15941"/>
                  </a:lnTo>
                  <a:cubicBezTo>
                    <a:pt x="0" y="11714"/>
                    <a:pt x="1680" y="7659"/>
                    <a:pt x="4669" y="4669"/>
                  </a:cubicBezTo>
                  <a:cubicBezTo>
                    <a:pt x="7659" y="1680"/>
                    <a:pt x="11714" y="0"/>
                    <a:pt x="15941" y="0"/>
                  </a:cubicBezTo>
                  <a:lnTo>
                    <a:pt x="3639983" y="0"/>
                  </a:lnTo>
                  <a:cubicBezTo>
                    <a:pt x="3644211" y="0"/>
                    <a:pt x="3648266" y="1680"/>
                    <a:pt x="3651255" y="4669"/>
                  </a:cubicBezTo>
                  <a:cubicBezTo>
                    <a:pt x="3654245" y="7659"/>
                    <a:pt x="3655925" y="11714"/>
                    <a:pt x="3655925" y="15941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3655925" cy="666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986452"/>
            <a:ext cx="6222379" cy="5951099"/>
            <a:chOff x="0" y="0"/>
            <a:chExt cx="2342085" cy="2240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2085" cy="2240167"/>
            </a:xfrm>
            <a:custGeom>
              <a:avLst/>
              <a:gdLst/>
              <a:ahLst/>
              <a:cxnLst/>
              <a:rect r="r" b="b" t="t" l="l"/>
              <a:pathLst>
                <a:path h="2240167" w="2342085">
                  <a:moveTo>
                    <a:pt x="2342085" y="24884"/>
                  </a:moveTo>
                  <a:lnTo>
                    <a:pt x="2342085" y="2215283"/>
                  </a:lnTo>
                  <a:cubicBezTo>
                    <a:pt x="2342085" y="2229026"/>
                    <a:pt x="2330944" y="2240167"/>
                    <a:pt x="2317201" y="2240167"/>
                  </a:cubicBezTo>
                  <a:lnTo>
                    <a:pt x="24884" y="2240167"/>
                  </a:lnTo>
                  <a:cubicBezTo>
                    <a:pt x="18284" y="2240167"/>
                    <a:pt x="11955" y="2237545"/>
                    <a:pt x="7288" y="2232878"/>
                  </a:cubicBezTo>
                  <a:cubicBezTo>
                    <a:pt x="2622" y="2228212"/>
                    <a:pt x="0" y="2221882"/>
                    <a:pt x="0" y="2215283"/>
                  </a:cubicBezTo>
                  <a:lnTo>
                    <a:pt x="0" y="24884"/>
                  </a:lnTo>
                  <a:cubicBezTo>
                    <a:pt x="0" y="11141"/>
                    <a:pt x="11141" y="0"/>
                    <a:pt x="24884" y="0"/>
                  </a:cubicBezTo>
                  <a:lnTo>
                    <a:pt x="2317201" y="0"/>
                  </a:lnTo>
                  <a:cubicBezTo>
                    <a:pt x="2330944" y="0"/>
                    <a:pt x="2342085" y="11141"/>
                    <a:pt x="2342085" y="24884"/>
                  </a:cubicBezTo>
                  <a:close/>
                </a:path>
              </a:pathLst>
            </a:custGeom>
            <a:solidFill>
              <a:srgbClr val="FF2828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342085" cy="21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6354" y="1986452"/>
            <a:ext cx="4707940" cy="5951099"/>
            <a:chOff x="0" y="0"/>
            <a:chExt cx="1772055" cy="2240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2055" cy="2240167"/>
            </a:xfrm>
            <a:custGeom>
              <a:avLst/>
              <a:gdLst/>
              <a:ahLst/>
              <a:cxnLst/>
              <a:rect r="r" b="b" t="t" l="l"/>
              <a:pathLst>
                <a:path h="2240167" w="1772055">
                  <a:moveTo>
                    <a:pt x="1772055" y="32889"/>
                  </a:moveTo>
                  <a:lnTo>
                    <a:pt x="1772055" y="2207278"/>
                  </a:lnTo>
                  <a:cubicBezTo>
                    <a:pt x="1772055" y="2216001"/>
                    <a:pt x="1768590" y="2224366"/>
                    <a:pt x="1762422" y="2230534"/>
                  </a:cubicBezTo>
                  <a:cubicBezTo>
                    <a:pt x="1756254" y="2236702"/>
                    <a:pt x="1747889" y="2240167"/>
                    <a:pt x="1739166" y="2240167"/>
                  </a:cubicBezTo>
                  <a:lnTo>
                    <a:pt x="32889" y="2240167"/>
                  </a:lnTo>
                  <a:cubicBezTo>
                    <a:pt x="24166" y="2240167"/>
                    <a:pt x="15801" y="2236702"/>
                    <a:pt x="9633" y="2230534"/>
                  </a:cubicBezTo>
                  <a:cubicBezTo>
                    <a:pt x="3465" y="2224366"/>
                    <a:pt x="0" y="2216001"/>
                    <a:pt x="0" y="2207278"/>
                  </a:cubicBezTo>
                  <a:lnTo>
                    <a:pt x="0" y="32889"/>
                  </a:lnTo>
                  <a:cubicBezTo>
                    <a:pt x="0" y="24166"/>
                    <a:pt x="3465" y="15801"/>
                    <a:pt x="9633" y="9633"/>
                  </a:cubicBezTo>
                  <a:cubicBezTo>
                    <a:pt x="15801" y="3465"/>
                    <a:pt x="24166" y="0"/>
                    <a:pt x="32889" y="0"/>
                  </a:cubicBezTo>
                  <a:lnTo>
                    <a:pt x="1739166" y="0"/>
                  </a:lnTo>
                  <a:cubicBezTo>
                    <a:pt x="1747889" y="0"/>
                    <a:pt x="1756254" y="3465"/>
                    <a:pt x="1762422" y="9633"/>
                  </a:cubicBezTo>
                  <a:cubicBezTo>
                    <a:pt x="1768590" y="15801"/>
                    <a:pt x="1772055" y="24166"/>
                    <a:pt x="1772055" y="32889"/>
                  </a:cubicBezTo>
                  <a:close/>
                </a:path>
              </a:pathLst>
            </a:custGeom>
            <a:solidFill>
              <a:srgbClr val="FF2828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1772055" cy="21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51360" y="1986452"/>
            <a:ext cx="4707940" cy="5951099"/>
            <a:chOff x="0" y="0"/>
            <a:chExt cx="1772055" cy="2240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2055" cy="2240167"/>
            </a:xfrm>
            <a:custGeom>
              <a:avLst/>
              <a:gdLst/>
              <a:ahLst/>
              <a:cxnLst/>
              <a:rect r="r" b="b" t="t" l="l"/>
              <a:pathLst>
                <a:path h="2240167" w="1772055">
                  <a:moveTo>
                    <a:pt x="1772055" y="32889"/>
                  </a:moveTo>
                  <a:lnTo>
                    <a:pt x="1772055" y="2207278"/>
                  </a:lnTo>
                  <a:cubicBezTo>
                    <a:pt x="1772055" y="2216001"/>
                    <a:pt x="1768590" y="2224366"/>
                    <a:pt x="1762422" y="2230534"/>
                  </a:cubicBezTo>
                  <a:cubicBezTo>
                    <a:pt x="1756254" y="2236702"/>
                    <a:pt x="1747889" y="2240167"/>
                    <a:pt x="1739166" y="2240167"/>
                  </a:cubicBezTo>
                  <a:lnTo>
                    <a:pt x="32889" y="2240167"/>
                  </a:lnTo>
                  <a:cubicBezTo>
                    <a:pt x="24166" y="2240167"/>
                    <a:pt x="15801" y="2236702"/>
                    <a:pt x="9633" y="2230534"/>
                  </a:cubicBezTo>
                  <a:cubicBezTo>
                    <a:pt x="3465" y="2224366"/>
                    <a:pt x="0" y="2216001"/>
                    <a:pt x="0" y="2207278"/>
                  </a:cubicBezTo>
                  <a:lnTo>
                    <a:pt x="0" y="32889"/>
                  </a:lnTo>
                  <a:cubicBezTo>
                    <a:pt x="0" y="24166"/>
                    <a:pt x="3465" y="15801"/>
                    <a:pt x="9633" y="9633"/>
                  </a:cubicBezTo>
                  <a:cubicBezTo>
                    <a:pt x="15801" y="3465"/>
                    <a:pt x="24166" y="0"/>
                    <a:pt x="32889" y="0"/>
                  </a:cubicBezTo>
                  <a:lnTo>
                    <a:pt x="1739166" y="0"/>
                  </a:lnTo>
                  <a:cubicBezTo>
                    <a:pt x="1747889" y="0"/>
                    <a:pt x="1756254" y="3465"/>
                    <a:pt x="1762422" y="9633"/>
                  </a:cubicBezTo>
                  <a:cubicBezTo>
                    <a:pt x="1768590" y="15801"/>
                    <a:pt x="1772055" y="24166"/>
                    <a:pt x="1772055" y="32889"/>
                  </a:cubicBezTo>
                  <a:close/>
                </a:path>
              </a:pathLst>
            </a:custGeom>
            <a:solidFill>
              <a:srgbClr val="FF2828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772055" cy="21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079298"/>
            <a:ext cx="6222379" cy="1972845"/>
            <a:chOff x="0" y="0"/>
            <a:chExt cx="2342085" cy="7426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2085" cy="742636"/>
            </a:xfrm>
            <a:custGeom>
              <a:avLst/>
              <a:gdLst/>
              <a:ahLst/>
              <a:cxnLst/>
              <a:rect r="r" b="b" t="t" l="l"/>
              <a:pathLst>
                <a:path h="742636" w="2342085">
                  <a:moveTo>
                    <a:pt x="2342085" y="24884"/>
                  </a:moveTo>
                  <a:lnTo>
                    <a:pt x="2342085" y="717752"/>
                  </a:lnTo>
                  <a:cubicBezTo>
                    <a:pt x="2342085" y="724352"/>
                    <a:pt x="2339464" y="730681"/>
                    <a:pt x="2334797" y="735348"/>
                  </a:cubicBezTo>
                  <a:cubicBezTo>
                    <a:pt x="2330130" y="740015"/>
                    <a:pt x="2323801" y="742636"/>
                    <a:pt x="2317201" y="742636"/>
                  </a:cubicBezTo>
                  <a:lnTo>
                    <a:pt x="24884" y="742636"/>
                  </a:lnTo>
                  <a:cubicBezTo>
                    <a:pt x="11141" y="742636"/>
                    <a:pt x="0" y="731495"/>
                    <a:pt x="0" y="717752"/>
                  </a:cubicBezTo>
                  <a:lnTo>
                    <a:pt x="0" y="24884"/>
                  </a:lnTo>
                  <a:cubicBezTo>
                    <a:pt x="0" y="11141"/>
                    <a:pt x="11141" y="0"/>
                    <a:pt x="24884" y="0"/>
                  </a:cubicBezTo>
                  <a:lnTo>
                    <a:pt x="2317201" y="0"/>
                  </a:lnTo>
                  <a:cubicBezTo>
                    <a:pt x="2330944" y="0"/>
                    <a:pt x="2342085" y="11141"/>
                    <a:pt x="2342085" y="24884"/>
                  </a:cubicBezTo>
                  <a:close/>
                </a:path>
              </a:pathLst>
            </a:custGeom>
            <a:solidFill>
              <a:srgbClr val="1F48F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2342085" cy="666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03383" y="3953419"/>
            <a:ext cx="2049896" cy="1176459"/>
            <a:chOff x="0" y="0"/>
            <a:chExt cx="492178" cy="282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17155" y="5265011"/>
            <a:ext cx="2022353" cy="1160651"/>
            <a:chOff x="0" y="0"/>
            <a:chExt cx="492178" cy="2824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03383" y="6560795"/>
            <a:ext cx="2022353" cy="1160651"/>
            <a:chOff x="0" y="0"/>
            <a:chExt cx="492178" cy="2824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94211" y="3953419"/>
            <a:ext cx="2082185" cy="1194990"/>
            <a:chOff x="0" y="0"/>
            <a:chExt cx="492178" cy="2824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94211" y="5265011"/>
            <a:ext cx="2082185" cy="1194990"/>
            <a:chOff x="0" y="0"/>
            <a:chExt cx="492178" cy="2824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94211" y="6543626"/>
            <a:ext cx="2082185" cy="1194990"/>
            <a:chOff x="0" y="0"/>
            <a:chExt cx="492178" cy="2824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2178" cy="282467"/>
            </a:xfrm>
            <a:custGeom>
              <a:avLst/>
              <a:gdLst/>
              <a:ahLst/>
              <a:cxnLst/>
              <a:rect r="r" b="b" t="t" l="l"/>
              <a:pathLst>
                <a:path h="282467" w="492178">
                  <a:moveTo>
                    <a:pt x="0" y="0"/>
                  </a:moveTo>
                  <a:lnTo>
                    <a:pt x="492178" y="0"/>
                  </a:lnTo>
                  <a:lnTo>
                    <a:pt x="492178" y="282467"/>
                  </a:lnTo>
                  <a:lnTo>
                    <a:pt x="0" y="282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38100"/>
              <a:ext cx="492178" cy="244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903383" y="3983583"/>
            <a:ext cx="2049896" cy="792103"/>
          </a:xfrm>
          <a:custGeom>
            <a:avLst/>
            <a:gdLst/>
            <a:ahLst/>
            <a:cxnLst/>
            <a:rect r="r" b="b" t="t" l="l"/>
            <a:pathLst>
              <a:path h="792103" w="2049896">
                <a:moveTo>
                  <a:pt x="0" y="0"/>
                </a:moveTo>
                <a:lnTo>
                  <a:pt x="2049896" y="0"/>
                </a:lnTo>
                <a:lnTo>
                  <a:pt x="2049896" y="792103"/>
                </a:lnTo>
                <a:lnTo>
                  <a:pt x="0" y="792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05" r="0" b="-1179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294211" y="3984058"/>
            <a:ext cx="2082185" cy="783685"/>
          </a:xfrm>
          <a:custGeom>
            <a:avLst/>
            <a:gdLst/>
            <a:ahLst/>
            <a:cxnLst/>
            <a:rect r="r" b="b" t="t" l="l"/>
            <a:pathLst>
              <a:path h="783685" w="2082185">
                <a:moveTo>
                  <a:pt x="0" y="0"/>
                </a:moveTo>
                <a:lnTo>
                  <a:pt x="2082185" y="0"/>
                </a:lnTo>
                <a:lnTo>
                  <a:pt x="2082185" y="783686"/>
                </a:lnTo>
                <a:lnTo>
                  <a:pt x="0" y="78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829" r="0" b="-1001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493117" y="5295935"/>
            <a:ext cx="870429" cy="789564"/>
          </a:xfrm>
          <a:custGeom>
            <a:avLst/>
            <a:gdLst/>
            <a:ahLst/>
            <a:cxnLst/>
            <a:rect r="r" b="b" t="t" l="l"/>
            <a:pathLst>
              <a:path h="789564" w="870429">
                <a:moveTo>
                  <a:pt x="0" y="0"/>
                </a:moveTo>
                <a:lnTo>
                  <a:pt x="870429" y="0"/>
                </a:lnTo>
                <a:lnTo>
                  <a:pt x="870429" y="789564"/>
                </a:lnTo>
                <a:lnTo>
                  <a:pt x="0" y="7895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46" t="-1809" r="-18235" b="-2172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373494" y="5296849"/>
            <a:ext cx="1923620" cy="846068"/>
          </a:xfrm>
          <a:custGeom>
            <a:avLst/>
            <a:gdLst/>
            <a:ahLst/>
            <a:cxnLst/>
            <a:rect r="r" b="b" t="t" l="l"/>
            <a:pathLst>
              <a:path h="846068" w="1923620">
                <a:moveTo>
                  <a:pt x="0" y="0"/>
                </a:moveTo>
                <a:lnTo>
                  <a:pt x="1923620" y="0"/>
                </a:lnTo>
                <a:lnTo>
                  <a:pt x="1923620" y="846068"/>
                </a:lnTo>
                <a:lnTo>
                  <a:pt x="0" y="846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35" t="-10593" r="-2859" b="-10697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903383" y="6643259"/>
            <a:ext cx="2022353" cy="585023"/>
          </a:xfrm>
          <a:custGeom>
            <a:avLst/>
            <a:gdLst/>
            <a:ahLst/>
            <a:cxnLst/>
            <a:rect r="r" b="b" t="t" l="l"/>
            <a:pathLst>
              <a:path h="585023" w="2022353">
                <a:moveTo>
                  <a:pt x="0" y="0"/>
                </a:moveTo>
                <a:lnTo>
                  <a:pt x="2022352" y="0"/>
                </a:lnTo>
                <a:lnTo>
                  <a:pt x="2022352" y="585022"/>
                </a:lnTo>
                <a:lnTo>
                  <a:pt x="0" y="5850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08" t="0" r="-1887" b="-81479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4294211" y="6575464"/>
            <a:ext cx="2082185" cy="579293"/>
          </a:xfrm>
          <a:custGeom>
            <a:avLst/>
            <a:gdLst/>
            <a:ahLst/>
            <a:cxnLst/>
            <a:rect r="r" b="b" t="t" l="l"/>
            <a:pathLst>
              <a:path h="579293" w="2082185">
                <a:moveTo>
                  <a:pt x="0" y="0"/>
                </a:moveTo>
                <a:lnTo>
                  <a:pt x="2082185" y="0"/>
                </a:lnTo>
                <a:lnTo>
                  <a:pt x="2082185" y="579293"/>
                </a:lnTo>
                <a:lnTo>
                  <a:pt x="0" y="5792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58" t="-98582" r="-4638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28700" y="1986452"/>
            <a:ext cx="6222379" cy="707607"/>
          </a:xfrm>
          <a:custGeom>
            <a:avLst/>
            <a:gdLst/>
            <a:ahLst/>
            <a:cxnLst/>
            <a:rect r="r" b="b" t="t" l="l"/>
            <a:pathLst>
              <a:path h="707607" w="6222379">
                <a:moveTo>
                  <a:pt x="0" y="0"/>
                </a:moveTo>
                <a:lnTo>
                  <a:pt x="6222379" y="0"/>
                </a:lnTo>
                <a:lnTo>
                  <a:pt x="6222379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157" t="-54946" r="-25990" b="-196798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546354" y="1986452"/>
            <a:ext cx="4707940" cy="707607"/>
          </a:xfrm>
          <a:custGeom>
            <a:avLst/>
            <a:gdLst/>
            <a:ahLst/>
            <a:cxnLst/>
            <a:rect r="r" b="b" t="t" l="l"/>
            <a:pathLst>
              <a:path h="707607" w="4707940">
                <a:moveTo>
                  <a:pt x="0" y="0"/>
                </a:moveTo>
                <a:lnTo>
                  <a:pt x="4707940" y="0"/>
                </a:lnTo>
                <a:lnTo>
                  <a:pt x="4707940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816" t="-54946" r="-66519" b="-196798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551360" y="1986452"/>
            <a:ext cx="4707940" cy="707607"/>
          </a:xfrm>
          <a:custGeom>
            <a:avLst/>
            <a:gdLst/>
            <a:ahLst/>
            <a:cxnLst/>
            <a:rect r="r" b="b" t="t" l="l"/>
            <a:pathLst>
              <a:path h="707607" w="4707940">
                <a:moveTo>
                  <a:pt x="0" y="0"/>
                </a:moveTo>
                <a:lnTo>
                  <a:pt x="4707940" y="0"/>
                </a:lnTo>
                <a:lnTo>
                  <a:pt x="4707940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816" t="-54946" r="-66519" b="-196798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922174" y="8289020"/>
            <a:ext cx="1442369" cy="1067442"/>
          </a:xfrm>
          <a:custGeom>
            <a:avLst/>
            <a:gdLst/>
            <a:ahLst/>
            <a:cxnLst/>
            <a:rect r="r" b="b" t="t" l="l"/>
            <a:pathLst>
              <a:path h="1067442" w="1442369">
                <a:moveTo>
                  <a:pt x="0" y="0"/>
                </a:moveTo>
                <a:lnTo>
                  <a:pt x="1442369" y="0"/>
                </a:lnTo>
                <a:lnTo>
                  <a:pt x="1442369" y="1067442"/>
                </a:lnTo>
                <a:lnTo>
                  <a:pt x="0" y="1067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0178" t="-21861" r="-25552" b="-9416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252804" y="8293503"/>
            <a:ext cx="602091" cy="232655"/>
          </a:xfrm>
          <a:custGeom>
            <a:avLst/>
            <a:gdLst/>
            <a:ahLst/>
            <a:cxnLst/>
            <a:rect r="r" b="b" t="t" l="l"/>
            <a:pathLst>
              <a:path h="232655" w="602091">
                <a:moveTo>
                  <a:pt x="0" y="0"/>
                </a:moveTo>
                <a:lnTo>
                  <a:pt x="602091" y="0"/>
                </a:lnTo>
                <a:lnTo>
                  <a:pt x="602091" y="232655"/>
                </a:lnTo>
                <a:lnTo>
                  <a:pt x="0" y="232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05" r="0" b="-1179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290629" y="8642231"/>
            <a:ext cx="564265" cy="212376"/>
          </a:xfrm>
          <a:custGeom>
            <a:avLst/>
            <a:gdLst/>
            <a:ahLst/>
            <a:cxnLst/>
            <a:rect r="r" b="b" t="t" l="l"/>
            <a:pathLst>
              <a:path h="212376" w="564265">
                <a:moveTo>
                  <a:pt x="0" y="0"/>
                </a:moveTo>
                <a:lnTo>
                  <a:pt x="564266" y="0"/>
                </a:lnTo>
                <a:lnTo>
                  <a:pt x="564266" y="212376"/>
                </a:lnTo>
                <a:lnTo>
                  <a:pt x="0" y="212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829" r="0" b="-10016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0919688" y="8244282"/>
            <a:ext cx="379943" cy="281876"/>
          </a:xfrm>
          <a:custGeom>
            <a:avLst/>
            <a:gdLst/>
            <a:ahLst/>
            <a:cxnLst/>
            <a:rect r="r" b="b" t="t" l="l"/>
            <a:pathLst>
              <a:path h="281876" w="379943">
                <a:moveTo>
                  <a:pt x="0" y="0"/>
                </a:moveTo>
                <a:lnTo>
                  <a:pt x="379943" y="0"/>
                </a:lnTo>
                <a:lnTo>
                  <a:pt x="379943" y="281876"/>
                </a:lnTo>
                <a:lnTo>
                  <a:pt x="0" y="281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0" t="-1809" r="-14914" b="-2172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919688" y="8609806"/>
            <a:ext cx="630300" cy="277226"/>
          </a:xfrm>
          <a:custGeom>
            <a:avLst/>
            <a:gdLst/>
            <a:ahLst/>
            <a:cxnLst/>
            <a:rect r="r" b="b" t="t" l="l"/>
            <a:pathLst>
              <a:path h="277226" w="630300">
                <a:moveTo>
                  <a:pt x="0" y="0"/>
                </a:moveTo>
                <a:lnTo>
                  <a:pt x="630300" y="0"/>
                </a:lnTo>
                <a:lnTo>
                  <a:pt x="630300" y="277225"/>
                </a:lnTo>
                <a:lnTo>
                  <a:pt x="0" y="277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35" t="-10593" r="-2859" b="-10697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0290629" y="8963231"/>
            <a:ext cx="611317" cy="176841"/>
          </a:xfrm>
          <a:custGeom>
            <a:avLst/>
            <a:gdLst/>
            <a:ahLst/>
            <a:cxnLst/>
            <a:rect r="r" b="b" t="t" l="l"/>
            <a:pathLst>
              <a:path h="176841" w="611317">
                <a:moveTo>
                  <a:pt x="0" y="0"/>
                </a:moveTo>
                <a:lnTo>
                  <a:pt x="611318" y="0"/>
                </a:lnTo>
                <a:lnTo>
                  <a:pt x="611318" y="176841"/>
                </a:lnTo>
                <a:lnTo>
                  <a:pt x="0" y="176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08" t="0" r="-1887" b="-81479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922226" y="8963231"/>
            <a:ext cx="627762" cy="174652"/>
          </a:xfrm>
          <a:custGeom>
            <a:avLst/>
            <a:gdLst/>
            <a:ahLst/>
            <a:cxnLst/>
            <a:rect r="r" b="b" t="t" l="l"/>
            <a:pathLst>
              <a:path h="174652" w="627762">
                <a:moveTo>
                  <a:pt x="0" y="0"/>
                </a:moveTo>
                <a:lnTo>
                  <a:pt x="627762" y="0"/>
                </a:lnTo>
                <a:lnTo>
                  <a:pt x="627762" y="174653"/>
                </a:lnTo>
                <a:lnTo>
                  <a:pt x="0" y="174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58" t="-98582" r="-4638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643775" y="8514345"/>
            <a:ext cx="1786062" cy="534220"/>
          </a:xfrm>
          <a:custGeom>
            <a:avLst/>
            <a:gdLst/>
            <a:ahLst/>
            <a:cxnLst/>
            <a:rect r="r" b="b" t="t" l="l"/>
            <a:pathLst>
              <a:path h="534220" w="1786062">
                <a:moveTo>
                  <a:pt x="0" y="0"/>
                </a:moveTo>
                <a:lnTo>
                  <a:pt x="1786062" y="0"/>
                </a:lnTo>
                <a:lnTo>
                  <a:pt x="1786062" y="534220"/>
                </a:lnTo>
                <a:lnTo>
                  <a:pt x="0" y="5342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968" t="-72779" r="-338934" b="-293128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643775" y="9140150"/>
            <a:ext cx="1786062" cy="534220"/>
          </a:xfrm>
          <a:custGeom>
            <a:avLst/>
            <a:gdLst/>
            <a:ahLst/>
            <a:cxnLst/>
            <a:rect r="r" b="b" t="t" l="l"/>
            <a:pathLst>
              <a:path h="534220" w="1786062">
                <a:moveTo>
                  <a:pt x="0" y="0"/>
                </a:moveTo>
                <a:lnTo>
                  <a:pt x="1786062" y="0"/>
                </a:lnTo>
                <a:lnTo>
                  <a:pt x="1786062" y="534220"/>
                </a:lnTo>
                <a:lnTo>
                  <a:pt x="0" y="5342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968" t="-72779" r="-338934" b="-293128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5400000">
            <a:off x="11959174" y="8800061"/>
            <a:ext cx="559431" cy="604790"/>
          </a:xfrm>
          <a:custGeom>
            <a:avLst/>
            <a:gdLst/>
            <a:ahLst/>
            <a:cxnLst/>
            <a:rect r="r" b="b" t="t" l="l"/>
            <a:pathLst>
              <a:path h="604790" w="559431">
                <a:moveTo>
                  <a:pt x="0" y="0"/>
                </a:moveTo>
                <a:lnTo>
                  <a:pt x="559431" y="0"/>
                </a:lnTo>
                <a:lnTo>
                  <a:pt x="559431" y="604790"/>
                </a:lnTo>
                <a:lnTo>
                  <a:pt x="0" y="604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489745" y="8992045"/>
            <a:ext cx="400754" cy="188354"/>
          </a:xfrm>
          <a:custGeom>
            <a:avLst/>
            <a:gdLst/>
            <a:ahLst/>
            <a:cxnLst/>
            <a:rect r="r" b="b" t="t" l="l"/>
            <a:pathLst>
              <a:path h="188354" w="400754">
                <a:moveTo>
                  <a:pt x="0" y="0"/>
                </a:moveTo>
                <a:lnTo>
                  <a:pt x="400754" y="0"/>
                </a:lnTo>
                <a:lnTo>
                  <a:pt x="400754" y="188354"/>
                </a:lnTo>
                <a:lnTo>
                  <a:pt x="0" y="188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4553662" y="9032252"/>
            <a:ext cx="400754" cy="188354"/>
          </a:xfrm>
          <a:custGeom>
            <a:avLst/>
            <a:gdLst/>
            <a:ahLst/>
            <a:cxnLst/>
            <a:rect r="r" b="b" t="t" l="l"/>
            <a:pathLst>
              <a:path h="188354" w="400754">
                <a:moveTo>
                  <a:pt x="0" y="0"/>
                </a:moveTo>
                <a:lnTo>
                  <a:pt x="400754" y="0"/>
                </a:lnTo>
                <a:lnTo>
                  <a:pt x="400754" y="188354"/>
                </a:lnTo>
                <a:lnTo>
                  <a:pt x="0" y="1883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5081286" y="8268771"/>
            <a:ext cx="2058725" cy="1634902"/>
            <a:chOff x="0" y="0"/>
            <a:chExt cx="2185485" cy="173571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85485" cy="1735714"/>
            </a:xfrm>
            <a:custGeom>
              <a:avLst/>
              <a:gdLst/>
              <a:ahLst/>
              <a:cxnLst/>
              <a:rect r="r" b="b" t="t" l="l"/>
              <a:pathLst>
                <a:path h="1735714" w="2185485">
                  <a:moveTo>
                    <a:pt x="2185485" y="75211"/>
                  </a:moveTo>
                  <a:lnTo>
                    <a:pt x="2185485" y="1660503"/>
                  </a:lnTo>
                  <a:cubicBezTo>
                    <a:pt x="2185485" y="1680450"/>
                    <a:pt x="2177561" y="1699580"/>
                    <a:pt x="2163456" y="1713685"/>
                  </a:cubicBezTo>
                  <a:cubicBezTo>
                    <a:pt x="2149351" y="1727790"/>
                    <a:pt x="2130221" y="1735714"/>
                    <a:pt x="2110274" y="1735714"/>
                  </a:cubicBezTo>
                  <a:lnTo>
                    <a:pt x="75211" y="1735714"/>
                  </a:lnTo>
                  <a:cubicBezTo>
                    <a:pt x="55264" y="1735714"/>
                    <a:pt x="36134" y="1727790"/>
                    <a:pt x="22029" y="1713685"/>
                  </a:cubicBezTo>
                  <a:cubicBezTo>
                    <a:pt x="7924" y="1699580"/>
                    <a:pt x="0" y="1680450"/>
                    <a:pt x="0" y="1660503"/>
                  </a:cubicBezTo>
                  <a:lnTo>
                    <a:pt x="0" y="75211"/>
                  </a:lnTo>
                  <a:cubicBezTo>
                    <a:pt x="0" y="55264"/>
                    <a:pt x="7924" y="36134"/>
                    <a:pt x="22029" y="22029"/>
                  </a:cubicBezTo>
                  <a:cubicBezTo>
                    <a:pt x="36134" y="7924"/>
                    <a:pt x="55264" y="0"/>
                    <a:pt x="75211" y="0"/>
                  </a:cubicBezTo>
                  <a:lnTo>
                    <a:pt x="2110274" y="0"/>
                  </a:lnTo>
                  <a:cubicBezTo>
                    <a:pt x="2151812" y="0"/>
                    <a:pt x="2185485" y="33673"/>
                    <a:pt x="2185485" y="75211"/>
                  </a:cubicBezTo>
                  <a:close/>
                </a:path>
              </a:pathLst>
            </a:custGeom>
            <a:solidFill>
              <a:srgbClr val="FF2828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76200"/>
              <a:ext cx="2185485" cy="165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7624848" y="3991437"/>
            <a:ext cx="4552743" cy="3897360"/>
          </a:xfrm>
          <a:custGeom>
            <a:avLst/>
            <a:gdLst/>
            <a:ahLst/>
            <a:cxnLst/>
            <a:rect r="r" b="b" t="t" l="l"/>
            <a:pathLst>
              <a:path h="3897360" w="4552743">
                <a:moveTo>
                  <a:pt x="0" y="0"/>
                </a:moveTo>
                <a:lnTo>
                  <a:pt x="4552743" y="0"/>
                </a:lnTo>
                <a:lnTo>
                  <a:pt x="4552743" y="3897361"/>
                </a:lnTo>
                <a:lnTo>
                  <a:pt x="0" y="38973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6754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670650" y="4067637"/>
            <a:ext cx="4469361" cy="3821160"/>
          </a:xfrm>
          <a:custGeom>
            <a:avLst/>
            <a:gdLst/>
            <a:ahLst/>
            <a:cxnLst/>
            <a:rect r="r" b="b" t="t" l="l"/>
            <a:pathLst>
              <a:path h="3821160" w="4469361">
                <a:moveTo>
                  <a:pt x="0" y="0"/>
                </a:moveTo>
                <a:lnTo>
                  <a:pt x="4469361" y="0"/>
                </a:lnTo>
                <a:lnTo>
                  <a:pt x="4469361" y="3821161"/>
                </a:lnTo>
                <a:lnTo>
                  <a:pt x="0" y="38211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-6889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028700" y="8071990"/>
            <a:ext cx="6222379" cy="707607"/>
          </a:xfrm>
          <a:custGeom>
            <a:avLst/>
            <a:gdLst/>
            <a:ahLst/>
            <a:cxnLst/>
            <a:rect r="r" b="b" t="t" l="l"/>
            <a:pathLst>
              <a:path h="707607" w="6222379">
                <a:moveTo>
                  <a:pt x="0" y="0"/>
                </a:moveTo>
                <a:lnTo>
                  <a:pt x="6222379" y="0"/>
                </a:lnTo>
                <a:lnTo>
                  <a:pt x="6222379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157" t="-54946" r="-25990" b="-196798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028700" y="1001186"/>
            <a:ext cx="16671685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Known-Ligand Benchmark: Pocket 1 Versus Pocket 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47987" y="2941709"/>
            <a:ext cx="5383362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Ogerin • MS48107 • lorazepam • ZINC32547799 • several weaker GPR68 reference comparators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947622" y="3082753"/>
            <a:ext cx="382959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Primary candidate region. Every benchmark ligand is docked here.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991598" y="3082753"/>
            <a:ext cx="3829597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Alternative region. The exact same ligand set is docked here.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84713" y="4804261"/>
            <a:ext cx="1287235" cy="27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b="true" sz="19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Ogerin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681548" y="4807688"/>
            <a:ext cx="1307511" cy="28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5"/>
              </a:lnSpc>
            </a:pPr>
            <a:r>
              <a:rPr lang="en-US" b="true" sz="200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MS48107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93362" y="6104549"/>
            <a:ext cx="1269939" cy="27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b="true" sz="19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lorazepam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426669" y="6122483"/>
            <a:ext cx="1817269" cy="28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5"/>
              </a:lnSpc>
            </a:pPr>
            <a:r>
              <a:rPr lang="en-US" b="true" sz="200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ZINC32547799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955864" y="7160418"/>
            <a:ext cx="1917390" cy="52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b="true" sz="19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weaker  reference compound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348245" y="7160170"/>
            <a:ext cx="1974117" cy="54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5"/>
              </a:lnSpc>
            </a:pPr>
            <a:r>
              <a:rPr lang="en-US" b="true" sz="200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weaker  reference compound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063188" y="2128165"/>
            <a:ext cx="415340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Benchmark Panel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23623" y="2128165"/>
            <a:ext cx="415340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Pocket 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829695" y="2128165"/>
            <a:ext cx="415340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Pocket 2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983467" y="9431874"/>
            <a:ext cx="1319783" cy="29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b="true" sz="1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Same GNINA settings for both pockets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890499" y="9298524"/>
            <a:ext cx="2063454" cy="56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b="true" sz="1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Same benchmark ligand set (Ogerin, MS48107, lorazepam, ZINC32547799, weaker comparators)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950067" y="8539520"/>
            <a:ext cx="117347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Docking to Pocket 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950067" y="9165325"/>
            <a:ext cx="117347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Docking to Pocket 2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216104" y="8623822"/>
            <a:ext cx="1789089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Paired comparison between Pocket 1 and Pocket 2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47987" y="8239422"/>
            <a:ext cx="415340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Controlled Comparison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499146" y="8841510"/>
            <a:ext cx="4609058" cy="74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7"/>
              </a:lnSpc>
            </a:pPr>
            <a:r>
              <a:rPr lang="en-US" sz="18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Receptor preparation, ligand preparation, search-box dimensions, exhaustiveness, number of poses and other GNINA settings.</a:t>
            </a:r>
          </a:p>
        </p:txBody>
      </p:sp>
      <p:sp>
        <p:nvSpPr>
          <p:cNvPr name="AutoShape 83" id="83"/>
          <p:cNvSpPr/>
          <p:nvPr/>
        </p:nvSpPr>
        <p:spPr>
          <a:xfrm flipV="true">
            <a:off x="2359284" y="8779597"/>
            <a:ext cx="0" cy="1272546"/>
          </a:xfrm>
          <a:prstGeom prst="line">
            <a:avLst/>
          </a:prstGeom>
          <a:ln cap="flat" w="38100">
            <a:solidFill>
              <a:srgbClr val="00000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1028700" y="9647377"/>
            <a:ext cx="6222379" cy="11343"/>
          </a:xfrm>
          <a:prstGeom prst="line">
            <a:avLst/>
          </a:prstGeom>
          <a:ln cap="flat" w="38100">
            <a:solidFill>
              <a:srgbClr val="00000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5" id="85"/>
          <p:cNvSpPr txBox="true"/>
          <p:nvPr/>
        </p:nvSpPr>
        <p:spPr>
          <a:xfrm rot="0">
            <a:off x="2518196" y="9715870"/>
            <a:ext cx="5625403" cy="26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7"/>
              </a:lnSpc>
            </a:pPr>
            <a:r>
              <a:rPr lang="en-US" sz="18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Only the pocket centre.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85740" y="9096593"/>
            <a:ext cx="4609058" cy="26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7"/>
              </a:lnSpc>
            </a:pPr>
            <a:r>
              <a:rPr lang="en-US" b="true" sz="1877">
                <a:solidFill>
                  <a:srgbClr val="00BF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Constant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85740" y="9715870"/>
            <a:ext cx="4609058" cy="26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7"/>
              </a:lnSpc>
            </a:pPr>
            <a:r>
              <a:rPr lang="en-US" b="true" sz="1877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Changed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86452"/>
            <a:ext cx="3473714" cy="2681000"/>
            <a:chOff x="0" y="0"/>
            <a:chExt cx="1307496" cy="10092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7496" cy="1009207"/>
            </a:xfrm>
            <a:custGeom>
              <a:avLst/>
              <a:gdLst/>
              <a:ahLst/>
              <a:cxnLst/>
              <a:rect r="r" b="b" t="t" l="l"/>
              <a:pathLst>
                <a:path h="1009207" w="1307496">
                  <a:moveTo>
                    <a:pt x="1307496" y="44574"/>
                  </a:moveTo>
                  <a:lnTo>
                    <a:pt x="1307496" y="964632"/>
                  </a:lnTo>
                  <a:cubicBezTo>
                    <a:pt x="1307496" y="989250"/>
                    <a:pt x="1287539" y="1009207"/>
                    <a:pt x="1262922" y="1009207"/>
                  </a:cubicBezTo>
                  <a:lnTo>
                    <a:pt x="44574" y="1009207"/>
                  </a:lnTo>
                  <a:cubicBezTo>
                    <a:pt x="19957" y="1009207"/>
                    <a:pt x="0" y="989250"/>
                    <a:pt x="0" y="964632"/>
                  </a:cubicBezTo>
                  <a:lnTo>
                    <a:pt x="0" y="44574"/>
                  </a:lnTo>
                  <a:cubicBezTo>
                    <a:pt x="0" y="19957"/>
                    <a:pt x="19957" y="0"/>
                    <a:pt x="44574" y="0"/>
                  </a:cubicBezTo>
                  <a:lnTo>
                    <a:pt x="1262922" y="0"/>
                  </a:lnTo>
                  <a:cubicBezTo>
                    <a:pt x="1287539" y="0"/>
                    <a:pt x="1307496" y="19957"/>
                    <a:pt x="1307496" y="44574"/>
                  </a:cubicBez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1307496" cy="933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89138" y="1986452"/>
            <a:ext cx="6213746" cy="2681000"/>
            <a:chOff x="0" y="0"/>
            <a:chExt cx="2338836" cy="1009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8836" cy="1009207"/>
            </a:xfrm>
            <a:custGeom>
              <a:avLst/>
              <a:gdLst/>
              <a:ahLst/>
              <a:cxnLst/>
              <a:rect r="r" b="b" t="t" l="l"/>
              <a:pathLst>
                <a:path h="1009207" w="2338836">
                  <a:moveTo>
                    <a:pt x="2338836" y="24919"/>
                  </a:moveTo>
                  <a:lnTo>
                    <a:pt x="2338836" y="984288"/>
                  </a:lnTo>
                  <a:cubicBezTo>
                    <a:pt x="2338836" y="998050"/>
                    <a:pt x="2327679" y="1009207"/>
                    <a:pt x="2313917" y="1009207"/>
                  </a:cubicBezTo>
                  <a:lnTo>
                    <a:pt x="24919" y="1009207"/>
                  </a:lnTo>
                  <a:cubicBezTo>
                    <a:pt x="11156" y="1009207"/>
                    <a:pt x="0" y="998050"/>
                    <a:pt x="0" y="984288"/>
                  </a:cubicBezTo>
                  <a:lnTo>
                    <a:pt x="0" y="24919"/>
                  </a:lnTo>
                  <a:cubicBezTo>
                    <a:pt x="0" y="11156"/>
                    <a:pt x="11156" y="0"/>
                    <a:pt x="24919" y="0"/>
                  </a:cubicBezTo>
                  <a:lnTo>
                    <a:pt x="2313917" y="0"/>
                  </a:lnTo>
                  <a:cubicBezTo>
                    <a:pt x="2327679" y="0"/>
                    <a:pt x="2338836" y="11156"/>
                    <a:pt x="2338836" y="24919"/>
                  </a:cubicBez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338836" cy="933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07658" y="1986452"/>
            <a:ext cx="6351642" cy="2681000"/>
            <a:chOff x="0" y="0"/>
            <a:chExt cx="2390739" cy="1009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90739" cy="1009207"/>
            </a:xfrm>
            <a:custGeom>
              <a:avLst/>
              <a:gdLst/>
              <a:ahLst/>
              <a:cxnLst/>
              <a:rect r="r" b="b" t="t" l="l"/>
              <a:pathLst>
                <a:path h="1009207" w="2390739">
                  <a:moveTo>
                    <a:pt x="2390739" y="24378"/>
                  </a:moveTo>
                  <a:lnTo>
                    <a:pt x="2390739" y="984829"/>
                  </a:lnTo>
                  <a:cubicBezTo>
                    <a:pt x="2390739" y="998292"/>
                    <a:pt x="2379825" y="1009207"/>
                    <a:pt x="2366362" y="1009207"/>
                  </a:cubicBezTo>
                  <a:lnTo>
                    <a:pt x="24378" y="1009207"/>
                  </a:lnTo>
                  <a:cubicBezTo>
                    <a:pt x="10914" y="1009207"/>
                    <a:pt x="0" y="998292"/>
                    <a:pt x="0" y="984829"/>
                  </a:cubicBezTo>
                  <a:lnTo>
                    <a:pt x="0" y="24378"/>
                  </a:lnTo>
                  <a:cubicBezTo>
                    <a:pt x="0" y="10914"/>
                    <a:pt x="10914" y="0"/>
                    <a:pt x="24378" y="0"/>
                  </a:cubicBezTo>
                  <a:lnTo>
                    <a:pt x="2366362" y="0"/>
                  </a:lnTo>
                  <a:cubicBezTo>
                    <a:pt x="2379825" y="0"/>
                    <a:pt x="2390739" y="10914"/>
                    <a:pt x="2390739" y="24378"/>
                  </a:cubicBez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2390739" cy="933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725937"/>
            <a:ext cx="7881382" cy="3532363"/>
            <a:chOff x="0" y="0"/>
            <a:chExt cx="2966529" cy="1329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66529" cy="1329684"/>
            </a:xfrm>
            <a:custGeom>
              <a:avLst/>
              <a:gdLst/>
              <a:ahLst/>
              <a:cxnLst/>
              <a:rect r="r" b="b" t="t" l="l"/>
              <a:pathLst>
                <a:path h="1329684" w="2966529">
                  <a:moveTo>
                    <a:pt x="2966529" y="19646"/>
                  </a:moveTo>
                  <a:lnTo>
                    <a:pt x="2966529" y="1310038"/>
                  </a:lnTo>
                  <a:cubicBezTo>
                    <a:pt x="2966529" y="1320888"/>
                    <a:pt x="2957733" y="1329684"/>
                    <a:pt x="2946883" y="1329684"/>
                  </a:cubicBezTo>
                  <a:lnTo>
                    <a:pt x="19646" y="1329684"/>
                  </a:lnTo>
                  <a:cubicBezTo>
                    <a:pt x="8796" y="1329684"/>
                    <a:pt x="0" y="1320888"/>
                    <a:pt x="0" y="1310038"/>
                  </a:cubicBezTo>
                  <a:lnTo>
                    <a:pt x="0" y="19646"/>
                  </a:lnTo>
                  <a:cubicBezTo>
                    <a:pt x="0" y="8796"/>
                    <a:pt x="8796" y="0"/>
                    <a:pt x="19646" y="0"/>
                  </a:cubicBezTo>
                  <a:lnTo>
                    <a:pt x="2946883" y="0"/>
                  </a:lnTo>
                  <a:cubicBezTo>
                    <a:pt x="2957733" y="0"/>
                    <a:pt x="2966529" y="8796"/>
                    <a:pt x="2966529" y="19646"/>
                  </a:cubicBez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2966529" cy="125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73323" y="5744987"/>
            <a:ext cx="8185977" cy="3513313"/>
            <a:chOff x="0" y="0"/>
            <a:chExt cx="3081178" cy="13225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81178" cy="1322513"/>
            </a:xfrm>
            <a:custGeom>
              <a:avLst/>
              <a:gdLst/>
              <a:ahLst/>
              <a:cxnLst/>
              <a:rect r="r" b="b" t="t" l="l"/>
              <a:pathLst>
                <a:path h="1322513" w="3081178">
                  <a:moveTo>
                    <a:pt x="3081178" y="18915"/>
                  </a:moveTo>
                  <a:lnTo>
                    <a:pt x="3081178" y="1303598"/>
                  </a:lnTo>
                  <a:cubicBezTo>
                    <a:pt x="3081178" y="1314045"/>
                    <a:pt x="3072710" y="1322513"/>
                    <a:pt x="3062263" y="1322513"/>
                  </a:cubicBezTo>
                  <a:lnTo>
                    <a:pt x="18915" y="1322513"/>
                  </a:lnTo>
                  <a:cubicBezTo>
                    <a:pt x="8469" y="1322513"/>
                    <a:pt x="0" y="1314045"/>
                    <a:pt x="0" y="1303598"/>
                  </a:cubicBezTo>
                  <a:lnTo>
                    <a:pt x="0" y="18915"/>
                  </a:lnTo>
                  <a:cubicBezTo>
                    <a:pt x="0" y="8469"/>
                    <a:pt x="8469" y="0"/>
                    <a:pt x="18915" y="0"/>
                  </a:cubicBezTo>
                  <a:lnTo>
                    <a:pt x="3062263" y="0"/>
                  </a:lnTo>
                  <a:cubicBezTo>
                    <a:pt x="3067279" y="0"/>
                    <a:pt x="3072091" y="1993"/>
                    <a:pt x="3075638" y="5540"/>
                  </a:cubicBezTo>
                  <a:cubicBezTo>
                    <a:pt x="3079185" y="9087"/>
                    <a:pt x="3081178" y="13898"/>
                    <a:pt x="3081178" y="18915"/>
                  </a:cubicBezTo>
                  <a:close/>
                </a:path>
              </a:pathLst>
            </a:custGeom>
            <a:solidFill>
              <a:srgbClr val="0CC0DF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3081178" cy="1246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589138" y="1986452"/>
            <a:ext cx="6213746" cy="707607"/>
          </a:xfrm>
          <a:custGeom>
            <a:avLst/>
            <a:gdLst/>
            <a:ahLst/>
            <a:cxnLst/>
            <a:rect r="r" b="b" t="t" l="l"/>
            <a:pathLst>
              <a:path h="707607" w="6213746">
                <a:moveTo>
                  <a:pt x="0" y="0"/>
                </a:moveTo>
                <a:lnTo>
                  <a:pt x="6213745" y="0"/>
                </a:lnTo>
                <a:lnTo>
                  <a:pt x="6213745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7994" r="-60173" b="-25099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07658" y="1986452"/>
            <a:ext cx="6351642" cy="707607"/>
          </a:xfrm>
          <a:custGeom>
            <a:avLst/>
            <a:gdLst/>
            <a:ahLst/>
            <a:cxnLst/>
            <a:rect r="r" b="b" t="t" l="l"/>
            <a:pathLst>
              <a:path h="707607" w="6351642">
                <a:moveTo>
                  <a:pt x="0" y="0"/>
                </a:moveTo>
                <a:lnTo>
                  <a:pt x="6351642" y="0"/>
                </a:lnTo>
                <a:lnTo>
                  <a:pt x="6351642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8707" r="-33084" b="-20564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20883" y="2077008"/>
            <a:ext cx="503913" cy="503913"/>
          </a:xfrm>
          <a:custGeom>
            <a:avLst/>
            <a:gdLst/>
            <a:ahLst/>
            <a:cxnLst/>
            <a:rect r="r" b="b" t="t" l="l"/>
            <a:pathLst>
              <a:path h="503913" w="503913">
                <a:moveTo>
                  <a:pt x="0" y="0"/>
                </a:moveTo>
                <a:lnTo>
                  <a:pt x="503912" y="0"/>
                </a:lnTo>
                <a:lnTo>
                  <a:pt x="503912" y="503913"/>
                </a:lnTo>
                <a:lnTo>
                  <a:pt x="0" y="503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8559" y="7427246"/>
            <a:ext cx="1554747" cy="709727"/>
          </a:xfrm>
          <a:custGeom>
            <a:avLst/>
            <a:gdLst/>
            <a:ahLst/>
            <a:cxnLst/>
            <a:rect r="r" b="b" t="t" l="l"/>
            <a:pathLst>
              <a:path h="709727" w="1554747">
                <a:moveTo>
                  <a:pt x="0" y="0"/>
                </a:moveTo>
                <a:lnTo>
                  <a:pt x="1554747" y="0"/>
                </a:lnTo>
                <a:lnTo>
                  <a:pt x="1554747" y="709728"/>
                </a:lnTo>
                <a:lnTo>
                  <a:pt x="0" y="709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5" t="0" r="-225" b="-1002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25647" y="7441684"/>
            <a:ext cx="1468813" cy="613769"/>
          </a:xfrm>
          <a:custGeom>
            <a:avLst/>
            <a:gdLst/>
            <a:ahLst/>
            <a:cxnLst/>
            <a:rect r="r" b="b" t="t" l="l"/>
            <a:pathLst>
              <a:path h="613769" w="1468813">
                <a:moveTo>
                  <a:pt x="0" y="0"/>
                </a:moveTo>
                <a:lnTo>
                  <a:pt x="1468813" y="0"/>
                </a:lnTo>
                <a:lnTo>
                  <a:pt x="1468813" y="613770"/>
                </a:lnTo>
                <a:lnTo>
                  <a:pt x="0" y="6137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633" r="0" b="-90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810354" y="7407383"/>
            <a:ext cx="804313" cy="729591"/>
          </a:xfrm>
          <a:custGeom>
            <a:avLst/>
            <a:gdLst/>
            <a:ahLst/>
            <a:cxnLst/>
            <a:rect r="r" b="b" t="t" l="l"/>
            <a:pathLst>
              <a:path h="729591" w="804313">
                <a:moveTo>
                  <a:pt x="0" y="0"/>
                </a:moveTo>
                <a:lnTo>
                  <a:pt x="804313" y="0"/>
                </a:lnTo>
                <a:lnTo>
                  <a:pt x="804313" y="729591"/>
                </a:lnTo>
                <a:lnTo>
                  <a:pt x="0" y="7295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3246" t="-1809" r="-18235" b="-217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833742" y="7399511"/>
            <a:ext cx="1330199" cy="585062"/>
          </a:xfrm>
          <a:custGeom>
            <a:avLst/>
            <a:gdLst/>
            <a:ahLst/>
            <a:cxnLst/>
            <a:rect r="r" b="b" t="t" l="l"/>
            <a:pathLst>
              <a:path h="585062" w="1330199">
                <a:moveTo>
                  <a:pt x="0" y="0"/>
                </a:moveTo>
                <a:lnTo>
                  <a:pt x="1330198" y="0"/>
                </a:lnTo>
                <a:lnTo>
                  <a:pt x="1330198" y="585063"/>
                </a:lnTo>
                <a:lnTo>
                  <a:pt x="0" y="5850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835" t="-10593" r="-2859" b="-10697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26576" y="7216485"/>
            <a:ext cx="1526140" cy="806586"/>
          </a:xfrm>
          <a:custGeom>
            <a:avLst/>
            <a:gdLst/>
            <a:ahLst/>
            <a:cxnLst/>
            <a:rect r="r" b="b" t="t" l="l"/>
            <a:pathLst>
              <a:path h="806586" w="1526140">
                <a:moveTo>
                  <a:pt x="0" y="0"/>
                </a:moveTo>
                <a:lnTo>
                  <a:pt x="1526140" y="0"/>
                </a:lnTo>
                <a:lnTo>
                  <a:pt x="1526140" y="806587"/>
                </a:lnTo>
                <a:lnTo>
                  <a:pt x="0" y="8065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544" t="0" r="-2158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28700" y="1986452"/>
            <a:ext cx="3473714" cy="707607"/>
          </a:xfrm>
          <a:custGeom>
            <a:avLst/>
            <a:gdLst/>
            <a:ahLst/>
            <a:cxnLst/>
            <a:rect r="r" b="b" t="t" l="l"/>
            <a:pathLst>
              <a:path h="707607" w="3473714">
                <a:moveTo>
                  <a:pt x="0" y="0"/>
                </a:moveTo>
                <a:lnTo>
                  <a:pt x="3473714" y="0"/>
                </a:lnTo>
                <a:lnTo>
                  <a:pt x="3473714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38" t="-54946" r="-125684" b="-19679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24005" y="2128165"/>
            <a:ext cx="351156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Affinity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16818" y="2088299"/>
            <a:ext cx="503913" cy="503913"/>
          </a:xfrm>
          <a:custGeom>
            <a:avLst/>
            <a:gdLst/>
            <a:ahLst/>
            <a:cxnLst/>
            <a:rect r="r" b="b" t="t" l="l"/>
            <a:pathLst>
              <a:path h="503913" w="503913">
                <a:moveTo>
                  <a:pt x="0" y="0"/>
                </a:moveTo>
                <a:lnTo>
                  <a:pt x="503913" y="0"/>
                </a:lnTo>
                <a:lnTo>
                  <a:pt x="503913" y="503913"/>
                </a:lnTo>
                <a:lnTo>
                  <a:pt x="0" y="5039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765036" y="2099590"/>
            <a:ext cx="503913" cy="503913"/>
          </a:xfrm>
          <a:custGeom>
            <a:avLst/>
            <a:gdLst/>
            <a:ahLst/>
            <a:cxnLst/>
            <a:rect r="r" b="b" t="t" l="l"/>
            <a:pathLst>
              <a:path h="503913" w="503913">
                <a:moveTo>
                  <a:pt x="0" y="0"/>
                </a:moveTo>
                <a:lnTo>
                  <a:pt x="503913" y="0"/>
                </a:lnTo>
                <a:lnTo>
                  <a:pt x="503913" y="503913"/>
                </a:lnTo>
                <a:lnTo>
                  <a:pt x="0" y="50391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8700" y="5744987"/>
            <a:ext cx="7873173" cy="707607"/>
          </a:xfrm>
          <a:custGeom>
            <a:avLst/>
            <a:gdLst/>
            <a:ahLst/>
            <a:cxnLst/>
            <a:rect r="r" b="b" t="t" l="l"/>
            <a:pathLst>
              <a:path h="707607" w="7873173">
                <a:moveTo>
                  <a:pt x="0" y="0"/>
                </a:moveTo>
                <a:lnTo>
                  <a:pt x="7873173" y="0"/>
                </a:lnTo>
                <a:lnTo>
                  <a:pt x="7873173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1" t="-54946" r="-178" b="-196798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16818" y="5846835"/>
            <a:ext cx="503913" cy="503913"/>
          </a:xfrm>
          <a:custGeom>
            <a:avLst/>
            <a:gdLst/>
            <a:ahLst/>
            <a:cxnLst/>
            <a:rect r="r" b="b" t="t" l="l"/>
            <a:pathLst>
              <a:path h="503913" w="503913">
                <a:moveTo>
                  <a:pt x="0" y="0"/>
                </a:moveTo>
                <a:lnTo>
                  <a:pt x="503913" y="0"/>
                </a:lnTo>
                <a:lnTo>
                  <a:pt x="503913" y="503912"/>
                </a:lnTo>
                <a:lnTo>
                  <a:pt x="0" y="50391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073323" y="5744987"/>
            <a:ext cx="8185977" cy="707607"/>
          </a:xfrm>
          <a:custGeom>
            <a:avLst/>
            <a:gdLst/>
            <a:ahLst/>
            <a:cxnLst/>
            <a:rect r="r" b="b" t="t" l="l"/>
            <a:pathLst>
              <a:path h="707607" w="8185977">
                <a:moveTo>
                  <a:pt x="0" y="0"/>
                </a:moveTo>
                <a:lnTo>
                  <a:pt x="8185977" y="0"/>
                </a:lnTo>
                <a:lnTo>
                  <a:pt x="8185977" y="707607"/>
                </a:lnTo>
                <a:lnTo>
                  <a:pt x="0" y="70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83" t="-58518" r="0" b="-205199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182859" y="5834333"/>
            <a:ext cx="516414" cy="516414"/>
          </a:xfrm>
          <a:custGeom>
            <a:avLst/>
            <a:gdLst/>
            <a:ahLst/>
            <a:cxnLst/>
            <a:rect r="r" b="b" t="t" l="l"/>
            <a:pathLst>
              <a:path h="516414" w="516414">
                <a:moveTo>
                  <a:pt x="0" y="0"/>
                </a:moveTo>
                <a:lnTo>
                  <a:pt x="516414" y="0"/>
                </a:lnTo>
                <a:lnTo>
                  <a:pt x="516414" y="516414"/>
                </a:lnTo>
                <a:lnTo>
                  <a:pt x="0" y="5164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48052" y="4777707"/>
            <a:ext cx="1901759" cy="837977"/>
            <a:chOff x="0" y="0"/>
            <a:chExt cx="922311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2311" cy="406400"/>
            </a:xfrm>
            <a:custGeom>
              <a:avLst/>
              <a:gdLst/>
              <a:ahLst/>
              <a:cxnLst/>
              <a:rect r="r" b="b" t="t" l="l"/>
              <a:pathLst>
                <a:path h="406400" w="922311">
                  <a:moveTo>
                    <a:pt x="0" y="0"/>
                  </a:moveTo>
                  <a:lnTo>
                    <a:pt x="719111" y="0"/>
                  </a:lnTo>
                  <a:lnTo>
                    <a:pt x="922311" y="203200"/>
                  </a:lnTo>
                  <a:lnTo>
                    <a:pt x="7191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77800" y="38100"/>
              <a:ext cx="668311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981075"/>
            <a:ext cx="16089246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Use </a:t>
            </a:r>
            <a:r>
              <a:rPr lang="en-US" b="true" sz="4800" spc="-192">
                <a:solidFill>
                  <a:srgbClr val="0CC0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Multiple Signals</a:t>
            </a: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Instead Of Chasing One Docking Score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40346" y="2128165"/>
            <a:ext cx="4706151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CNNscore / CNNaffinity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96245" y="2116874"/>
            <a:ext cx="4706151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Pose Consistency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5473" y="2877230"/>
            <a:ext cx="3055665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Does one pocket show a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more favourable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consistent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conventional docking pattern for known modulators?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04571" y="2877230"/>
            <a:ext cx="5466509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 the neural-network metrics support the sam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pocket-level pattern?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96237" y="2867847"/>
            <a:ext cx="5789584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 known ligands occupy a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coherent </a:t>
            </a: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region and mak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structurally plausible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contacts?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5473" y="8165549"/>
            <a:ext cx="7388532" cy="88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226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while </a:t>
            </a:r>
            <a:r>
              <a:rPr lang="en-US" sz="2260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ZINC32547799</a:t>
            </a:r>
            <a:r>
              <a:rPr lang="en-US" sz="226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</a:t>
            </a:r>
            <a:r>
              <a:rPr lang="en-US" sz="2260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weaker reference compounds</a:t>
            </a:r>
            <a:r>
              <a:rPr lang="en-US" b="true" sz="22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help determine whether apparently strong scores are </a:t>
            </a:r>
            <a:r>
              <a:rPr lang="en-US" sz="226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specific</a:t>
            </a:r>
            <a:r>
              <a:rPr lang="en-US" b="true" sz="22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or simply reflect </a:t>
            </a:r>
            <a:r>
              <a:rPr lang="en-US" sz="226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nonspecific</a:t>
            </a:r>
            <a:r>
              <a:rPr lang="en-US" b="true" sz="226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favorable interactions.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28780" y="5875410"/>
            <a:ext cx="351156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Controls Matter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869012" y="5897992"/>
            <a:ext cx="351156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Rule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04571" y="3547790"/>
            <a:ext cx="5688174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400" i="true">
                <a:solidFill>
                  <a:srgbClr val="1F48FF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Stronger candidate</a:t>
            </a:r>
            <a:r>
              <a:rPr lang="en-US" b="true" sz="24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should show </a:t>
            </a:r>
            <a:r>
              <a:rPr lang="en-US" b="true" sz="2400" i="true">
                <a:solidFill>
                  <a:srgbClr val="FF2828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converging evidence</a:t>
            </a:r>
            <a:r>
              <a:rPr lang="en-US" b="true" sz="24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, rather than</a:t>
            </a:r>
            <a:r>
              <a:rPr lang="en-US" b="true" sz="24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relying on a single scoring function.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88687" y="3700190"/>
            <a:ext cx="5929259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 top-ranked candidates adopt poses consistent with this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reference-ligand pattern</a:t>
            </a: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?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5473" y="6728819"/>
            <a:ext cx="7463039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Known active ligands such as </a:t>
            </a:r>
            <a:r>
              <a:rPr lang="en-US" sz="2400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Ogerin</a:t>
            </a: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</a:t>
            </a:r>
            <a:r>
              <a:rPr lang="en-US" sz="2400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MS48107</a:t>
            </a: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provide </a:t>
            </a:r>
            <a:r>
              <a:rPr lang="en-US" sz="2400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positive reference points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41066" y="6633569"/>
            <a:ext cx="7639019" cy="238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candidate is prioritized when </a:t>
            </a:r>
            <a:r>
              <a:rPr lang="en-US" sz="2399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multiple independent signals </a:t>
            </a:r>
            <a:r>
              <a:rPr lang="en-US" sz="2399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converge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favorable docking affinity, supp</a:t>
            </a: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ortive CNN metrics, and a plausible binding pose consistent with known GPR68 ligands and controls.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</a:t>
            </a:r>
            <a:r>
              <a:rPr lang="en-US" sz="2399" b="true">
                <a:solidFill>
                  <a:srgbClr val="1F48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benchmark</a:t>
            </a: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is used to </a:t>
            </a:r>
            <a:r>
              <a:rPr lang="en-US" sz="2399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define</a:t>
            </a: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</a:t>
            </a:r>
            <a:r>
              <a:rPr lang="en-US" sz="2399" b="true">
                <a:solidFill>
                  <a:srgbClr val="FF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validate</a:t>
            </a: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the screening region for pilot virtual screening; docking alone does not establish biological binding or GPR68 activity.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37524" y="4818870"/>
            <a:ext cx="1322814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Know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n GPR68 Ligands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862426" y="4777707"/>
            <a:ext cx="2162686" cy="837977"/>
            <a:chOff x="0" y="0"/>
            <a:chExt cx="1048855" cy="406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8854" cy="406400"/>
            </a:xfrm>
            <a:custGeom>
              <a:avLst/>
              <a:gdLst/>
              <a:ahLst/>
              <a:cxnLst/>
              <a:rect r="r" b="b" t="t" l="l"/>
              <a:pathLst>
                <a:path h="406400" w="1048854">
                  <a:moveTo>
                    <a:pt x="0" y="0"/>
                  </a:moveTo>
                  <a:lnTo>
                    <a:pt x="845654" y="0"/>
                  </a:lnTo>
                  <a:lnTo>
                    <a:pt x="1048854" y="203200"/>
                  </a:lnTo>
                  <a:lnTo>
                    <a:pt x="845654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77800" y="38100"/>
              <a:ext cx="794855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282362" y="4818870"/>
            <a:ext cx="1322814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Benchmark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Docking Pocket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3833776" y="4777707"/>
            <a:ext cx="2279032" cy="837977"/>
            <a:chOff x="0" y="0"/>
            <a:chExt cx="1105280" cy="406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05280" cy="406400"/>
            </a:xfrm>
            <a:custGeom>
              <a:avLst/>
              <a:gdLst/>
              <a:ahLst/>
              <a:cxnLst/>
              <a:rect r="r" b="b" t="t" l="l"/>
              <a:pathLst>
                <a:path h="406400" w="1105280">
                  <a:moveTo>
                    <a:pt x="0" y="0"/>
                  </a:moveTo>
                  <a:lnTo>
                    <a:pt x="902080" y="0"/>
                  </a:lnTo>
                  <a:lnTo>
                    <a:pt x="1105280" y="203200"/>
                  </a:lnTo>
                  <a:lnTo>
                    <a:pt x="90208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177800" y="38100"/>
              <a:ext cx="85128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4214594" y="4818870"/>
            <a:ext cx="1530290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Aff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inity + CNNscore/</a:t>
            </a:r>
          </a:p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CNNaffinity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935384" y="4777707"/>
            <a:ext cx="2221193" cy="837977"/>
            <a:chOff x="0" y="0"/>
            <a:chExt cx="1077229" cy="406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7229" cy="406400"/>
            </a:xfrm>
            <a:custGeom>
              <a:avLst/>
              <a:gdLst/>
              <a:ahLst/>
              <a:cxnLst/>
              <a:rect r="r" b="b" t="t" l="l"/>
              <a:pathLst>
                <a:path h="406400" w="1077229">
                  <a:moveTo>
                    <a:pt x="0" y="0"/>
                  </a:moveTo>
                  <a:lnTo>
                    <a:pt x="874029" y="0"/>
                  </a:lnTo>
                  <a:lnTo>
                    <a:pt x="1077229" y="203200"/>
                  </a:lnTo>
                  <a:lnTo>
                    <a:pt x="87402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77800" y="38100"/>
              <a:ext cx="823229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341408" y="4923790"/>
            <a:ext cx="1530290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Pose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Consistency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976473" y="4777707"/>
            <a:ext cx="2184776" cy="837977"/>
            <a:chOff x="0" y="0"/>
            <a:chExt cx="1059568" cy="406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9567" cy="406400"/>
            </a:xfrm>
            <a:custGeom>
              <a:avLst/>
              <a:gdLst/>
              <a:ahLst/>
              <a:cxnLst/>
              <a:rect r="r" b="b" t="t" l="l"/>
              <a:pathLst>
                <a:path h="406400" w="1059567">
                  <a:moveTo>
                    <a:pt x="0" y="0"/>
                  </a:moveTo>
                  <a:lnTo>
                    <a:pt x="856367" y="0"/>
                  </a:lnTo>
                  <a:lnTo>
                    <a:pt x="1059567" y="203200"/>
                  </a:lnTo>
                  <a:lnTo>
                    <a:pt x="85636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177800" y="38100"/>
              <a:ext cx="805568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308178" y="4818870"/>
            <a:ext cx="1530290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Positive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&amp; Negative Controls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990868" y="4777707"/>
            <a:ext cx="2184776" cy="837977"/>
            <a:chOff x="0" y="0"/>
            <a:chExt cx="1059568" cy="406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59567" cy="406400"/>
            </a:xfrm>
            <a:custGeom>
              <a:avLst/>
              <a:gdLst/>
              <a:ahLst/>
              <a:cxnLst/>
              <a:rect r="r" b="b" t="t" l="l"/>
              <a:pathLst>
                <a:path h="406400" w="1059567">
                  <a:moveTo>
                    <a:pt x="0" y="0"/>
                  </a:moveTo>
                  <a:lnTo>
                    <a:pt x="856367" y="0"/>
                  </a:lnTo>
                  <a:lnTo>
                    <a:pt x="1059567" y="203200"/>
                  </a:lnTo>
                  <a:lnTo>
                    <a:pt x="85636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177800" y="38100"/>
              <a:ext cx="805568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355738" y="4942695"/>
            <a:ext cx="1530290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Conver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gent Evidence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968540" y="4777707"/>
            <a:ext cx="3303871" cy="837977"/>
            <a:chOff x="0" y="0"/>
            <a:chExt cx="1602304" cy="406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02304" cy="406400"/>
            </a:xfrm>
            <a:custGeom>
              <a:avLst/>
              <a:gdLst/>
              <a:ahLst/>
              <a:cxnLst/>
              <a:rect r="r" b="b" t="t" l="l"/>
              <a:pathLst>
                <a:path h="406400" w="1602304">
                  <a:moveTo>
                    <a:pt x="0" y="0"/>
                  </a:moveTo>
                  <a:lnTo>
                    <a:pt x="1399104" y="0"/>
                  </a:lnTo>
                  <a:lnTo>
                    <a:pt x="1602304" y="203200"/>
                  </a:lnTo>
                  <a:lnTo>
                    <a:pt x="1399104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177800" y="38100"/>
              <a:ext cx="1348304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461067" y="4942695"/>
            <a:ext cx="2487137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Prioritiz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 Candidates for Pilot Screening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5100604" y="4777707"/>
            <a:ext cx="2487137" cy="837977"/>
            <a:chOff x="0" y="0"/>
            <a:chExt cx="1206206" cy="406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06206" cy="406400"/>
            </a:xfrm>
            <a:custGeom>
              <a:avLst/>
              <a:gdLst/>
              <a:ahLst/>
              <a:cxnLst/>
              <a:rect r="r" b="b" t="t" l="l"/>
              <a:pathLst>
                <a:path h="406400" w="1206206">
                  <a:moveTo>
                    <a:pt x="0" y="0"/>
                  </a:moveTo>
                  <a:lnTo>
                    <a:pt x="1003006" y="0"/>
                  </a:lnTo>
                  <a:lnTo>
                    <a:pt x="1206206" y="203200"/>
                  </a:lnTo>
                  <a:lnTo>
                    <a:pt x="100300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177800" y="38100"/>
              <a:ext cx="952206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100604" y="4942695"/>
            <a:ext cx="2487137" cy="5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Experimental</a:t>
            </a:r>
            <a:r>
              <a:rPr lang="en-US" b="true" sz="20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Validation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975219"/>
            <a:ext cx="16230600" cy="3294269"/>
            <a:chOff x="0" y="0"/>
            <a:chExt cx="6109151" cy="12400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9150" cy="1240059"/>
            </a:xfrm>
            <a:custGeom>
              <a:avLst/>
              <a:gdLst/>
              <a:ahLst/>
              <a:cxnLst/>
              <a:rect r="r" b="b" t="t" l="l"/>
              <a:pathLst>
                <a:path h="1240059" w="6109150">
                  <a:moveTo>
                    <a:pt x="6109150" y="9540"/>
                  </a:moveTo>
                  <a:lnTo>
                    <a:pt x="6109150" y="1230519"/>
                  </a:lnTo>
                  <a:cubicBezTo>
                    <a:pt x="6109150" y="1235787"/>
                    <a:pt x="6104879" y="1240059"/>
                    <a:pt x="6099611" y="1240059"/>
                  </a:cubicBezTo>
                  <a:lnTo>
                    <a:pt x="9540" y="1240059"/>
                  </a:lnTo>
                  <a:cubicBezTo>
                    <a:pt x="4271" y="1240059"/>
                    <a:pt x="0" y="1235787"/>
                    <a:pt x="0" y="1230519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lnTo>
                    <a:pt x="6099611" y="0"/>
                  </a:lnTo>
                  <a:cubicBezTo>
                    <a:pt x="6102141" y="0"/>
                    <a:pt x="6104567" y="1005"/>
                    <a:pt x="6106356" y="2794"/>
                  </a:cubicBezTo>
                  <a:cubicBezTo>
                    <a:pt x="6108145" y="4583"/>
                    <a:pt x="6109150" y="7010"/>
                    <a:pt x="6109150" y="9540"/>
                  </a:cubicBezTo>
                  <a:close/>
                </a:path>
              </a:pathLst>
            </a:custGeom>
            <a:solidFill>
              <a:srgbClr val="FFBD59">
                <a:alpha val="19608"/>
              </a:srgbClr>
            </a:solidFill>
            <a:ln w="38100" cap="sq">
              <a:solidFill>
                <a:srgbClr val="00000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6109151" cy="1163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38682" y="2269239"/>
            <a:ext cx="16230600" cy="2792620"/>
            <a:chOff x="0" y="0"/>
            <a:chExt cx="21640800" cy="372349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640800" cy="3723494"/>
              <a:chOff x="0" y="0"/>
              <a:chExt cx="6109151" cy="105122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109150" cy="1051224"/>
              </a:xfrm>
              <a:custGeom>
                <a:avLst/>
                <a:gdLst/>
                <a:ahLst/>
                <a:cxnLst/>
                <a:rect r="r" b="b" t="t" l="l"/>
                <a:pathLst>
                  <a:path h="1051224" w="6109150">
                    <a:moveTo>
                      <a:pt x="6109150" y="9540"/>
                    </a:moveTo>
                    <a:lnTo>
                      <a:pt x="6109150" y="1041684"/>
                    </a:lnTo>
                    <a:cubicBezTo>
                      <a:pt x="6109150" y="1046952"/>
                      <a:pt x="6104879" y="1051224"/>
                      <a:pt x="6099611" y="1051224"/>
                    </a:cubicBezTo>
                    <a:lnTo>
                      <a:pt x="9540" y="1051224"/>
                    </a:lnTo>
                    <a:cubicBezTo>
                      <a:pt x="4271" y="1051224"/>
                      <a:pt x="0" y="1046952"/>
                      <a:pt x="0" y="1041684"/>
                    </a:cubicBezTo>
                    <a:lnTo>
                      <a:pt x="0" y="9540"/>
                    </a:lnTo>
                    <a:cubicBezTo>
                      <a:pt x="0" y="4271"/>
                      <a:pt x="4271" y="0"/>
                      <a:pt x="9540" y="0"/>
                    </a:cubicBezTo>
                    <a:lnTo>
                      <a:pt x="6099611" y="0"/>
                    </a:lnTo>
                    <a:cubicBezTo>
                      <a:pt x="6102141" y="0"/>
                      <a:pt x="6104567" y="1005"/>
                      <a:pt x="6106356" y="2794"/>
                    </a:cubicBezTo>
                    <a:cubicBezTo>
                      <a:pt x="6108145" y="4583"/>
                      <a:pt x="6109150" y="7010"/>
                      <a:pt x="6109150" y="9540"/>
                    </a:cubicBezTo>
                    <a:close/>
                  </a:path>
                </a:pathLst>
              </a:custGeom>
              <a:solidFill>
                <a:srgbClr val="7ED957">
                  <a:alpha val="19608"/>
                </a:srgbClr>
              </a:solidFill>
              <a:ln w="38100" cap="sq">
                <a:solidFill>
                  <a:srgbClr val="000000">
                    <a:alpha val="19608"/>
                  </a:srgbClr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76200"/>
                <a:ext cx="6109151" cy="975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7421253" y="696047"/>
              <a:ext cx="6798294" cy="719112"/>
            </a:xfrm>
            <a:custGeom>
              <a:avLst/>
              <a:gdLst/>
              <a:ahLst/>
              <a:cxnLst/>
              <a:rect r="r" b="b" t="t" l="l"/>
              <a:pathLst>
                <a:path h="719112" w="6798294">
                  <a:moveTo>
                    <a:pt x="0" y="0"/>
                  </a:moveTo>
                  <a:lnTo>
                    <a:pt x="6798294" y="0"/>
                  </a:lnTo>
                  <a:lnTo>
                    <a:pt x="6798294" y="719112"/>
                  </a:lnTo>
                  <a:lnTo>
                    <a:pt x="0" y="719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10" t="-53875" r="-36593" b="-25038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528134" y="696047"/>
              <a:ext cx="5408570" cy="719112"/>
            </a:xfrm>
            <a:custGeom>
              <a:avLst/>
              <a:gdLst/>
              <a:ahLst/>
              <a:cxnLst/>
              <a:rect r="r" b="b" t="t" l="l"/>
              <a:pathLst>
                <a:path h="719112" w="5408570">
                  <a:moveTo>
                    <a:pt x="0" y="0"/>
                  </a:moveTo>
                  <a:lnTo>
                    <a:pt x="5408570" y="0"/>
                  </a:lnTo>
                  <a:lnTo>
                    <a:pt x="5408570" y="719112"/>
                  </a:lnTo>
                  <a:lnTo>
                    <a:pt x="0" y="719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741" t="-53875" r="-64488" b="-2503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580719" y="1536124"/>
              <a:ext cx="5332505" cy="1617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Complete the docking and analysis of the current known-ligand set in both Pocket 1 and Pocket 2.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421253" y="1555241"/>
              <a:ext cx="6798294" cy="122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Select a few top-ranked and chemically diverse candidates for experimental testing.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528134" y="1555241"/>
              <a:ext cx="5408570" cy="1224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After pilot testing, expand to a larger set of 6-10 chemically diverse candidates.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596913" y="811340"/>
              <a:ext cx="6446975" cy="526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true">
                  <a:solidFill>
                    <a:srgbClr val="FEFE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</a:t>
              </a:r>
              <a:r>
                <a:rPr lang="en-US" b="true" sz="2799">
                  <a:solidFill>
                    <a:srgbClr val="FEFE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Pilot a Small Purchasable Set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056495" y="811340"/>
              <a:ext cx="4522716" cy="526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2799" b="true">
                  <a:solidFill>
                    <a:srgbClr val="FEFE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</a:t>
              </a:r>
              <a:r>
                <a:rPr lang="en-US" b="true" sz="2799">
                  <a:solidFill>
                    <a:srgbClr val="FEFE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Scale-Up Validation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6550303" y="1728466"/>
              <a:ext cx="430631" cy="419865"/>
            </a:xfrm>
            <a:custGeom>
              <a:avLst/>
              <a:gdLst/>
              <a:ahLst/>
              <a:cxnLst/>
              <a:rect r="r" b="b" t="t" l="l"/>
              <a:pathLst>
                <a:path h="419865" w="430631">
                  <a:moveTo>
                    <a:pt x="0" y="0"/>
                  </a:moveTo>
                  <a:lnTo>
                    <a:pt x="430631" y="0"/>
                  </a:lnTo>
                  <a:lnTo>
                    <a:pt x="430631" y="419865"/>
                  </a:lnTo>
                  <a:lnTo>
                    <a:pt x="0" y="419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80719" y="696047"/>
              <a:ext cx="5537870" cy="719112"/>
            </a:xfrm>
            <a:custGeom>
              <a:avLst/>
              <a:gdLst/>
              <a:ahLst/>
              <a:cxnLst/>
              <a:rect r="r" b="b" t="t" l="l"/>
              <a:pathLst>
                <a:path h="719112" w="5537870">
                  <a:moveTo>
                    <a:pt x="0" y="0"/>
                  </a:moveTo>
                  <a:lnTo>
                    <a:pt x="5537870" y="0"/>
                  </a:lnTo>
                  <a:lnTo>
                    <a:pt x="5537870" y="719112"/>
                  </a:lnTo>
                  <a:lnTo>
                    <a:pt x="0" y="719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9" t="-53875" r="-68445" b="-2503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766352" y="811340"/>
              <a:ext cx="5537870" cy="526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b="true" sz="279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Finish the Benchmark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4682117" y="1938399"/>
              <a:ext cx="430631" cy="419865"/>
            </a:xfrm>
            <a:custGeom>
              <a:avLst/>
              <a:gdLst/>
              <a:ahLst/>
              <a:cxnLst/>
              <a:rect r="r" b="b" t="t" l="l"/>
              <a:pathLst>
                <a:path h="419865" w="430631">
                  <a:moveTo>
                    <a:pt x="0" y="0"/>
                  </a:moveTo>
                  <a:lnTo>
                    <a:pt x="430631" y="0"/>
                  </a:lnTo>
                  <a:lnTo>
                    <a:pt x="430631" y="419865"/>
                  </a:lnTo>
                  <a:lnTo>
                    <a:pt x="0" y="419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9163" y="1931780"/>
            <a:ext cx="4153402" cy="612644"/>
            <a:chOff x="0" y="0"/>
            <a:chExt cx="5537870" cy="8168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06026" y="0"/>
              <a:ext cx="5325817" cy="816859"/>
            </a:xfrm>
            <a:custGeom>
              <a:avLst/>
              <a:gdLst/>
              <a:ahLst/>
              <a:cxnLst/>
              <a:rect r="r" b="b" t="t" l="l"/>
              <a:pathLst>
                <a:path h="816859" w="5325817">
                  <a:moveTo>
                    <a:pt x="0" y="0"/>
                  </a:moveTo>
                  <a:lnTo>
                    <a:pt x="5325818" y="0"/>
                  </a:lnTo>
                  <a:lnTo>
                    <a:pt x="5325818" y="816859"/>
                  </a:lnTo>
                  <a:lnTo>
                    <a:pt x="0" y="816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609" t="-47428" r="-74359" b="-20846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164166"/>
              <a:ext cx="5537870" cy="526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b="true" sz="2799">
                  <a:solidFill>
                    <a:srgbClr val="FEFE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Immediate Next Steps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163" y="5362575"/>
            <a:ext cx="4153402" cy="612644"/>
            <a:chOff x="0" y="0"/>
            <a:chExt cx="5537870" cy="8168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06026" y="0"/>
              <a:ext cx="5325817" cy="816859"/>
            </a:xfrm>
            <a:custGeom>
              <a:avLst/>
              <a:gdLst/>
              <a:ahLst/>
              <a:cxnLst/>
              <a:rect r="r" b="b" t="t" l="l"/>
              <a:pathLst>
                <a:path h="816859" w="5325817">
                  <a:moveTo>
                    <a:pt x="0" y="0"/>
                  </a:moveTo>
                  <a:lnTo>
                    <a:pt x="5325818" y="0"/>
                  </a:lnTo>
                  <a:lnTo>
                    <a:pt x="5325818" y="816859"/>
                  </a:lnTo>
                  <a:lnTo>
                    <a:pt x="0" y="816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09" t="-47428" r="-74359" b="-20846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164166"/>
              <a:ext cx="5537870" cy="526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b="true" sz="27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Long-Term Aim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75471" y="6669195"/>
            <a:ext cx="7702622" cy="2310787"/>
          </a:xfrm>
          <a:custGeom>
            <a:avLst/>
            <a:gdLst/>
            <a:ahLst/>
            <a:cxnLst/>
            <a:rect r="r" b="b" t="t" l="l"/>
            <a:pathLst>
              <a:path h="2310787" w="7702622">
                <a:moveTo>
                  <a:pt x="0" y="0"/>
                </a:moveTo>
                <a:lnTo>
                  <a:pt x="7702622" y="0"/>
                </a:lnTo>
                <a:lnTo>
                  <a:pt x="7702622" y="2310787"/>
                </a:lnTo>
                <a:lnTo>
                  <a:pt x="0" y="2310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611588" y="8417517"/>
            <a:ext cx="2048861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Disease-relevant target in osteoarthritis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229872" y="6626729"/>
            <a:ext cx="7702622" cy="2310787"/>
          </a:xfrm>
          <a:custGeom>
            <a:avLst/>
            <a:gdLst/>
            <a:ahLst/>
            <a:cxnLst/>
            <a:rect r="r" b="b" t="t" l="l"/>
            <a:pathLst>
              <a:path h="2310787" w="7702622">
                <a:moveTo>
                  <a:pt x="0" y="0"/>
                </a:moveTo>
                <a:lnTo>
                  <a:pt x="7702622" y="0"/>
                </a:lnTo>
                <a:lnTo>
                  <a:pt x="7702622" y="2310787"/>
                </a:lnTo>
                <a:lnTo>
                  <a:pt x="0" y="2310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03415" y="7209578"/>
            <a:ext cx="1307941" cy="1213512"/>
          </a:xfrm>
          <a:custGeom>
            <a:avLst/>
            <a:gdLst/>
            <a:ahLst/>
            <a:cxnLst/>
            <a:rect r="r" b="b" t="t" l="l"/>
            <a:pathLst>
              <a:path h="1213512" w="1307941">
                <a:moveTo>
                  <a:pt x="0" y="0"/>
                </a:moveTo>
                <a:lnTo>
                  <a:pt x="1307940" y="0"/>
                </a:lnTo>
                <a:lnTo>
                  <a:pt x="1307940" y="1213511"/>
                </a:lnTo>
                <a:lnTo>
                  <a:pt x="0" y="12135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722192" y="7464976"/>
            <a:ext cx="1009179" cy="933491"/>
          </a:xfrm>
          <a:custGeom>
            <a:avLst/>
            <a:gdLst/>
            <a:ahLst/>
            <a:cxnLst/>
            <a:rect r="r" b="b" t="t" l="l"/>
            <a:pathLst>
              <a:path h="933491" w="1009179">
                <a:moveTo>
                  <a:pt x="0" y="0"/>
                </a:moveTo>
                <a:lnTo>
                  <a:pt x="1009180" y="0"/>
                </a:lnTo>
                <a:lnTo>
                  <a:pt x="1009180" y="933491"/>
                </a:lnTo>
                <a:lnTo>
                  <a:pt x="0" y="9334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518296" y="7267846"/>
            <a:ext cx="1125774" cy="849959"/>
          </a:xfrm>
          <a:custGeom>
            <a:avLst/>
            <a:gdLst/>
            <a:ahLst/>
            <a:cxnLst/>
            <a:rect r="r" b="b" t="t" l="l"/>
            <a:pathLst>
              <a:path h="849959" w="1125774">
                <a:moveTo>
                  <a:pt x="0" y="0"/>
                </a:moveTo>
                <a:lnTo>
                  <a:pt x="1125774" y="0"/>
                </a:lnTo>
                <a:lnTo>
                  <a:pt x="1125774" y="849960"/>
                </a:lnTo>
                <a:lnTo>
                  <a:pt x="0" y="8499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953099" y="7158531"/>
            <a:ext cx="1587193" cy="1068589"/>
          </a:xfrm>
          <a:custGeom>
            <a:avLst/>
            <a:gdLst/>
            <a:ahLst/>
            <a:cxnLst/>
            <a:rect r="r" b="b" t="t" l="l"/>
            <a:pathLst>
              <a:path h="1068589" w="1587193">
                <a:moveTo>
                  <a:pt x="0" y="0"/>
                </a:moveTo>
                <a:lnTo>
                  <a:pt x="1587192" y="0"/>
                </a:lnTo>
                <a:lnTo>
                  <a:pt x="1587192" y="1068589"/>
                </a:lnTo>
                <a:lnTo>
                  <a:pt x="0" y="106858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24585" r="-101685" b="-75126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126491" y="7273910"/>
            <a:ext cx="1499409" cy="1124556"/>
          </a:xfrm>
          <a:custGeom>
            <a:avLst/>
            <a:gdLst/>
            <a:ahLst/>
            <a:cxnLst/>
            <a:rect r="r" b="b" t="t" l="l"/>
            <a:pathLst>
              <a:path h="1124556" w="1499409">
                <a:moveTo>
                  <a:pt x="0" y="0"/>
                </a:moveTo>
                <a:lnTo>
                  <a:pt x="1499409" y="0"/>
                </a:lnTo>
                <a:lnTo>
                  <a:pt x="1499409" y="1124557"/>
                </a:lnTo>
                <a:lnTo>
                  <a:pt x="0" y="11245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585378" y="7151174"/>
            <a:ext cx="1624956" cy="1083304"/>
          </a:xfrm>
          <a:custGeom>
            <a:avLst/>
            <a:gdLst/>
            <a:ahLst/>
            <a:cxnLst/>
            <a:rect r="r" b="b" t="t" l="l"/>
            <a:pathLst>
              <a:path h="1083304" w="1624956">
                <a:moveTo>
                  <a:pt x="0" y="0"/>
                </a:moveTo>
                <a:lnTo>
                  <a:pt x="1624956" y="0"/>
                </a:lnTo>
                <a:lnTo>
                  <a:pt x="1624956" y="1083304"/>
                </a:lnTo>
                <a:lnTo>
                  <a:pt x="0" y="10833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94894" y="6160957"/>
            <a:ext cx="286206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1) Rational</a:t>
            </a:r>
          </a:p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95747" y="6160957"/>
            <a:ext cx="286206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2) Reproducible Prediction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90651" y="6160957"/>
            <a:ext cx="177108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3) Structural Support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4894" y="1016451"/>
            <a:ext cx="15964428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From Docking To Biological Validation: Our Next Steps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239896" y="5378332"/>
            <a:ext cx="120789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23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To build a </a:t>
            </a:r>
            <a:r>
              <a:rPr lang="en-US" b="true" sz="2399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complete</a:t>
            </a:r>
            <a:r>
              <a:rPr lang="en-US" b="true" sz="23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and </a:t>
            </a:r>
            <a:r>
              <a:rPr lang="en-US" b="true" sz="2399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coherent</a:t>
            </a:r>
            <a:r>
              <a:rPr lang="en-US" b="true" sz="23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chain from in silico prediction to biological function and disease relevance.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91001" y="6308594"/>
            <a:ext cx="2862069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6) Mechanism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530370" y="7219103"/>
            <a:ext cx="1392823" cy="27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GNINA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78343" y="8417517"/>
            <a:ext cx="2296878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Reliable docking results using validated workflow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077108" y="6160957"/>
            <a:ext cx="286206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4) Receptor Response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50148" y="6160957"/>
            <a:ext cx="286206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5) Cartilage Protection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62809" y="8217492"/>
            <a:ext cx="2236747" cy="62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Protection of OA-related chondrocytes (e.g., reduced inflammation)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91001" y="8217492"/>
            <a:ext cx="2111388" cy="62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Effects are dependent on GPR68, with a clear mechanism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727756" y="8442139"/>
            <a:ext cx="2296878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Plausible binding mode and key interactions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34220" y="8277751"/>
            <a:ext cx="2296878" cy="62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Modulation of GPR68 signalling and cellular response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4894" y="1016451"/>
            <a:ext cx="15964428" cy="7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2"/>
              </a:lnSpc>
            </a:pPr>
            <a:r>
              <a:rPr lang="en-US" b="true" sz="4800" spc="-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792167"/>
            <a:ext cx="16230600" cy="7466133"/>
            <a:chOff x="0" y="0"/>
            <a:chExt cx="4274726" cy="1966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966389"/>
            </a:xfrm>
            <a:custGeom>
              <a:avLst/>
              <a:gdLst/>
              <a:ahLst/>
              <a:cxnLst/>
              <a:rect r="r" b="b" t="t" l="l"/>
              <a:pathLst>
                <a:path h="1966389" w="4274726">
                  <a:moveTo>
                    <a:pt x="8586" y="0"/>
                  </a:moveTo>
                  <a:lnTo>
                    <a:pt x="4266140" y="0"/>
                  </a:lnTo>
                  <a:cubicBezTo>
                    <a:pt x="4270882" y="0"/>
                    <a:pt x="4274726" y="3844"/>
                    <a:pt x="4274726" y="8586"/>
                  </a:cubicBezTo>
                  <a:lnTo>
                    <a:pt x="4274726" y="1957803"/>
                  </a:lnTo>
                  <a:cubicBezTo>
                    <a:pt x="4274726" y="1962545"/>
                    <a:pt x="4270882" y="1966389"/>
                    <a:pt x="4266140" y="1966389"/>
                  </a:cubicBezTo>
                  <a:lnTo>
                    <a:pt x="8586" y="1966389"/>
                  </a:lnTo>
                  <a:cubicBezTo>
                    <a:pt x="3844" y="1966389"/>
                    <a:pt x="0" y="1962545"/>
                    <a:pt x="0" y="1957803"/>
                  </a:cubicBezTo>
                  <a:lnTo>
                    <a:pt x="0" y="8586"/>
                  </a:lnTo>
                  <a:cubicBezTo>
                    <a:pt x="0" y="3844"/>
                    <a:pt x="3844" y="0"/>
                    <a:pt x="85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2000"/>
                  </a:srgbClr>
                </a:gs>
                <a:gs pos="100000">
                  <a:srgbClr val="FFFFFF">
                    <a:alpha val="22500"/>
                  </a:srgbClr>
                </a:gs>
              </a:gsLst>
              <a:lin ang="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200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61569" y="1989554"/>
            <a:ext cx="15782582" cy="710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Hunter, D. J., &amp; Bierma-Zeinstra, S. (2019).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Osteoarthritis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Lancet, 393(10182), 1745–1759.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Goldring, M. B., &amp; Otero, M. (2011).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Inflammation in osteoarthritis.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Opinion in Rheumatology, 23(5), 471–478.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Loeser, R. F., Goldring, S. R., Scanzello, C. R., &amp; Goldring, M. B. (2012).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Osteoarthritis: A disease of the joint as an organ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Arthritis &amp; Rheumatism, 64(6), 1697–1707.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Kapoor, M., Martel-Pelletier, J., Lajeunesse, D., Pelletier, J. P., &amp; Fahmi, H. (2011).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Role of proinflammatory cytokines in the pathophysiology of osteoarthritis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Nature Reviews Rheumatology, 7(1), 33–42.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Troeberg, L., &amp; Nagase, H. (2012).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Proteases involved in cartilage matrix degradation in osteoarthritis.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Biochimica et Biophysica Acta, 1824(1), 133–145.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Wang, M., Sampson, E. R., Jin, H., Li, J., Ke, Q. H., Im, H. J., &amp; Chen, D. (2013).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MMP13 is a critical target gene during the progression of osteoarthritis.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Arthritis Research &amp; Therapy, 15(1), R5.</a:t>
            </a:r>
          </a:p>
          <a:p>
            <a:pPr algn="l" marL="518158" indent="-259079" lvl="1">
              <a:lnSpc>
                <a:spcPts val="2399"/>
              </a:lnSpc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Verma, P., &amp; Dalal, K. (2011).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ADAMTS-4 and ADAMTS-5: Key enzymes in osteoarthritis.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Journal of Cellular Biochemistry, 112(12), 3507–3514.</a:t>
            </a:r>
          </a:p>
          <a:p>
            <a:pPr algn="l" marL="518158" indent="-259079" lvl="1">
              <a:lnSpc>
                <a:spcPts val="2399"/>
              </a:lnSpc>
              <a:spcBef>
                <a:spcPct val="0"/>
              </a:spcBef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Huang, X. P., Karpiak, J., Kr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oeze, W. K., Zhu, H., Chen, X., Moy, S. S., Saddoris, K. A., Nikolova, V. D., Farrell, M. S., Wang, S., Mangano, T. J., Deshpande, D. A., Jiang, A., Penn, R. B., Jin, J., Koller, B. H., Kenakin, T., Shoichet, B. K., &amp; Roth, B. L. (2015).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Allosteric ligands for the pharmacologically dark receptors GPR68 and GPR65.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Nature, 527(7579), 477–483.</a:t>
            </a:r>
          </a:p>
          <a:p>
            <a:pPr algn="l" marL="518158" indent="-259079" lvl="1">
              <a:lnSpc>
                <a:spcPts val="2399"/>
              </a:lnSpc>
              <a:spcBef>
                <a:spcPct val="0"/>
              </a:spcBef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Huang, X. P., Karpiak, J., Kroeze, W. K., Zhu, H., Chen, X., Moy, S. S., Saddoris, K. A., Nikolova, V. D., Farrell, M. S., Wang, S., Mangano, T. J., Deshpande, D. A., Jiang, A., Penn, R. B., Jin, J., Koller, B. H., Kenakin, T., Shoichet, B. K., &amp; Roth, B. L. (2019).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Design, synthesis, and characterization of ogerin-based positive allosteric modulators for G protein-coupled receptor 68.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Medicinal Chemistry.</a:t>
            </a:r>
          </a:p>
          <a:p>
            <a:pPr algn="l" marL="518158" indent="-259079" lvl="1">
              <a:lnSpc>
                <a:spcPts val="2399"/>
              </a:lnSpc>
              <a:spcBef>
                <a:spcPct val="0"/>
              </a:spcBef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Wei, W. C., Jacobs, B., Becker, E. B. E., &amp; Glitsch, M. D. (2018).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Reciprocal regulation of two G protein-coupled receptors sensing extracellular concentrations of Ca²⁺ and H⁺.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National Academy of Sciences, 112(34), 10738–10743.</a:t>
            </a:r>
          </a:p>
          <a:p>
            <a:pPr algn="l" marL="518158" indent="-259079" lvl="1">
              <a:lnSpc>
                <a:spcPts val="2399"/>
              </a:lnSpc>
              <a:spcBef>
                <a:spcPct val="0"/>
              </a:spcBef>
              <a:buAutoNum type="arabicPeriod" startAt="1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Wei, W. C., et al. (2018). </a:t>
            </a:r>
            <a:r>
              <a:rPr lang="en-US" sz="2399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Biased signalling of the proton-sensing receptor OGR1 by benzodiazepines. </a:t>
            </a: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 Signalling.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026734" y="-68580"/>
            <a:ext cx="18167684" cy="1035558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924350" y="4014216"/>
            <a:ext cx="12334950" cy="116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8"/>
              </a:lnSpc>
            </a:pPr>
            <a:r>
              <a:rPr lang="en-US" b="true" sz="7200" spc="-2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12921" y="5185410"/>
            <a:ext cx="123349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DAHW89tZpTM</dc:identifier>
  <dcterms:modified xsi:type="dcterms:W3CDTF">2011-08-01T06:04:30Z</dcterms:modified>
  <cp:revision>1</cp:revision>
  <dc:title>AI-Assisted Discovery of Novel Small-Molecule Modulators of  GPR68 for Cartilage Protection in Osteoarthritis</dc:title>
</cp:coreProperties>
</file>